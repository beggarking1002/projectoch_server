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9bfd34a83f4259" /><Relationship Type="http://schemas.openxmlformats.org/officeDocument/2006/relationships/extended-properties" Target="/docProps/app.xml" Id="R92efc4df1fa444a3" /><Relationship Type="http://schemas.openxmlformats.org/officeDocument/2006/relationships/officeDocument" Target="/ppt/presentation.xml" Id="Rf0b13fa04de1491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0191cc434c49fb"/>
  </p:sldMasterIdLst>
  <p:notesMasterIdLst>
    <p:notesMasterId xmlns:r="http://schemas.openxmlformats.org/officeDocument/2006/relationships" r:id="Rf5edd8a10d844ada"/>
  </p:notesMasterIdLst>
  <p:sldIdLst>
    <p:sldId xmlns:r="http://schemas.openxmlformats.org/officeDocument/2006/relationships" id="256" r:id="R333cd15629be44df"/>
    <p:sldId xmlns:r="http://schemas.openxmlformats.org/officeDocument/2006/relationships" id="257" r:id="Rbc01a1b2afa040c2"/>
    <p:sldId xmlns:r="http://schemas.openxmlformats.org/officeDocument/2006/relationships" id="258" r:id="R1717ce6588264926"/>
    <p:sldId xmlns:r="http://schemas.openxmlformats.org/officeDocument/2006/relationships" id="259" r:id="Rd34f0ba4f51d48d9"/>
    <p:sldId xmlns:r="http://schemas.openxmlformats.org/officeDocument/2006/relationships" id="260" r:id="R95d1b538c7a14300"/>
    <p:sldId xmlns:r="http://schemas.openxmlformats.org/officeDocument/2006/relationships" id="261" r:id="R4215bc07eda6496d"/>
    <p:sldId xmlns:r="http://schemas.openxmlformats.org/officeDocument/2006/relationships" id="262" r:id="Rfc214aebb4aa4c55"/>
    <p:sldId xmlns:r="http://schemas.openxmlformats.org/officeDocument/2006/relationships" id="263" r:id="R86fb3ea07cab4e99"/>
    <p:sldId xmlns:r="http://schemas.openxmlformats.org/officeDocument/2006/relationships" id="264" r:id="R88ffbb6a3f9d49c2"/>
    <p:sldId xmlns:r="http://schemas.openxmlformats.org/officeDocument/2006/relationships" id="265" r:id="R02d5afd693644c54"/>
    <p:sldId xmlns:r="http://schemas.openxmlformats.org/officeDocument/2006/relationships" id="266" r:id="R500b5d60f980458e"/>
    <p:sldId xmlns:r="http://schemas.openxmlformats.org/officeDocument/2006/relationships" id="267" r:id="Ra74ffea2ecd1473e"/>
    <p:sldId xmlns:r="http://schemas.openxmlformats.org/officeDocument/2006/relationships" id="268" r:id="R011f31096f924b19"/>
    <p:sldId xmlns:r="http://schemas.openxmlformats.org/officeDocument/2006/relationships" id="269" r:id="R6dda48acef9b47d4"/>
    <p:sldId xmlns:r="http://schemas.openxmlformats.org/officeDocument/2006/relationships" id="270" r:id="R8aba4129f2ec4fe3"/>
    <p:sldId xmlns:r="http://schemas.openxmlformats.org/officeDocument/2006/relationships" id="271" r:id="Rd7ef84240abf4f7f"/>
    <p:sldId xmlns:r="http://schemas.openxmlformats.org/officeDocument/2006/relationships" id="272" r:id="R6ba46b88fef14458"/>
    <p:sldId xmlns:r="http://schemas.openxmlformats.org/officeDocument/2006/relationships" id="273" r:id="R00c3ed0cd4a5448a"/>
    <p:sldId xmlns:r="http://schemas.openxmlformats.org/officeDocument/2006/relationships" id="274" r:id="Re68c7e9692dc46ba"/>
    <p:sldId xmlns:r="http://schemas.openxmlformats.org/officeDocument/2006/relationships" id="275" r:id="Ra3cf5124aa3f4fbc"/>
    <p:sldId xmlns:r="http://schemas.openxmlformats.org/officeDocument/2006/relationships" id="276" r:id="Rcbd811eda65a4c47"/>
    <p:sldId xmlns:r="http://schemas.openxmlformats.org/officeDocument/2006/relationships" id="277" r:id="R97804d4360584df2"/>
    <p:sldId xmlns:r="http://schemas.openxmlformats.org/officeDocument/2006/relationships" id="278" r:id="R2363143a17d44708"/>
  </p:sldIdLst>
  <p:sldSz cx="12192000" cy="6858000"/>
  <p:notesSz cx="6858000" cy="9144000"/>
  <p:embeddedFontLst>
    <p:embeddedFont>
      <p:font typeface="Noto Sans KR"/>
      <p:regular xmlns:r="http://schemas.openxmlformats.org/officeDocument/2006/relationships" r:id="R61a7b5777c444da5"/>
      <p:bold xmlns:r="http://schemas.openxmlformats.org/officeDocument/2006/relationships" r:id="Rd613be1832fc440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b4f7f774d4b48" /><Relationship Type="http://schemas.openxmlformats.org/officeDocument/2006/relationships/slideMaster" Target="/ppt/slideMasters/slideMaster1.xml" Id="Rf70191cc434c49fb" /><Relationship Type="http://schemas.openxmlformats.org/officeDocument/2006/relationships/notesMaster" Target="/ppt/notesMasters/notesMaster1.xml" Id="Rf5edd8a10d844ada" /><Relationship Type="http://schemas.openxmlformats.org/officeDocument/2006/relationships/presProps" Target="/ppt/presProps.xml" Id="Rfdd8a6d485294f01" /><Relationship Type="http://schemas.openxmlformats.org/officeDocument/2006/relationships/tableStyles" Target="/ppt/tableStyles.xml" Id="Rb38456dc9b774e9a" /><Relationship Type="http://schemas.openxmlformats.org/officeDocument/2006/relationships/font" Target="/ppt/fonts/font.dat" Id="R61a7b5777c444da5" /><Relationship Type="http://schemas.openxmlformats.org/officeDocument/2006/relationships/font" Target="/ppt/fonts/font2.dat" Id="Rd613be1832fc4402" /><Relationship Type="http://schemas.openxmlformats.org/officeDocument/2006/relationships/slide" Target="/ppt/slides/slide1.xml" Id="R333cd15629be44df" /><Relationship Type="http://schemas.openxmlformats.org/officeDocument/2006/relationships/slide" Target="/ppt/slides/slide2.xml" Id="Rbc01a1b2afa040c2" /><Relationship Type="http://schemas.openxmlformats.org/officeDocument/2006/relationships/slide" Target="/ppt/slides/slide3.xml" Id="R1717ce6588264926" /><Relationship Type="http://schemas.openxmlformats.org/officeDocument/2006/relationships/slide" Target="/ppt/slides/slide4.xml" Id="Rd34f0ba4f51d48d9" /><Relationship Type="http://schemas.openxmlformats.org/officeDocument/2006/relationships/slide" Target="/ppt/slides/slide5.xml" Id="R95d1b538c7a14300" /><Relationship Type="http://schemas.openxmlformats.org/officeDocument/2006/relationships/slide" Target="/ppt/slides/slide6.xml" Id="R4215bc07eda6496d" /><Relationship Type="http://schemas.openxmlformats.org/officeDocument/2006/relationships/slide" Target="/ppt/slides/slide7.xml" Id="Rfc214aebb4aa4c55" /><Relationship Type="http://schemas.openxmlformats.org/officeDocument/2006/relationships/slide" Target="/ppt/slides/slide8.xml" Id="R86fb3ea07cab4e99" /><Relationship Type="http://schemas.openxmlformats.org/officeDocument/2006/relationships/slide" Target="/ppt/slides/slide9.xml" Id="R88ffbb6a3f9d49c2" /><Relationship Type="http://schemas.openxmlformats.org/officeDocument/2006/relationships/slide" Target="/ppt/slides/slide10.xml" Id="R02d5afd693644c54" /><Relationship Type="http://schemas.openxmlformats.org/officeDocument/2006/relationships/slide" Target="/ppt/slides/slide11.xml" Id="R500b5d60f980458e" /><Relationship Type="http://schemas.openxmlformats.org/officeDocument/2006/relationships/slide" Target="/ppt/slides/slide12.xml" Id="Ra74ffea2ecd1473e" /><Relationship Type="http://schemas.openxmlformats.org/officeDocument/2006/relationships/slide" Target="/ppt/slides/slide13.xml" Id="R011f31096f924b19" /><Relationship Type="http://schemas.openxmlformats.org/officeDocument/2006/relationships/slide" Target="/ppt/slides/slide14.xml" Id="R6dda48acef9b47d4" /><Relationship Type="http://schemas.openxmlformats.org/officeDocument/2006/relationships/slide" Target="/ppt/slides/slide15.xml" Id="R8aba4129f2ec4fe3" /><Relationship Type="http://schemas.openxmlformats.org/officeDocument/2006/relationships/slide" Target="/ppt/slides/slide16.xml" Id="Rd7ef84240abf4f7f" /><Relationship Type="http://schemas.openxmlformats.org/officeDocument/2006/relationships/slide" Target="/ppt/slides/slide17.xml" Id="R6ba46b88fef14458" /><Relationship Type="http://schemas.openxmlformats.org/officeDocument/2006/relationships/slide" Target="/ppt/slides/slide18.xml" Id="R00c3ed0cd4a5448a" /><Relationship Type="http://schemas.openxmlformats.org/officeDocument/2006/relationships/slide" Target="/ppt/slides/slide19.xml" Id="Re68c7e9692dc46ba" /><Relationship Type="http://schemas.openxmlformats.org/officeDocument/2006/relationships/slide" Target="/ppt/slides/slide20.xml" Id="Ra3cf5124aa3f4fbc" /><Relationship Type="http://schemas.openxmlformats.org/officeDocument/2006/relationships/slide" Target="/ppt/slides/slide21.xml" Id="Rcbd811eda65a4c47" /><Relationship Type="http://schemas.openxmlformats.org/officeDocument/2006/relationships/slide" Target="/ppt/slides/slide22.xml" Id="R97804d4360584df2" /><Relationship Type="http://schemas.openxmlformats.org/officeDocument/2006/relationships/slide" Target="/ppt/slides/slide23.xml" Id="R2363143a17d4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f6e1a06b0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9ccdc985d4833" /><Relationship Type="http://schemas.openxmlformats.org/officeDocument/2006/relationships/notesMaster" Target="/ppt/notesMasters/notesMaster1.xml" Id="Rd8e5fb3a509747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edf7528ea439a" /><Relationship Type="http://schemas.openxmlformats.org/officeDocument/2006/relationships/notesMaster" Target="/ppt/notesMasters/notesMaster1.xml" Id="R07387a635504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acd575e454468a" /><Relationship Type="http://schemas.openxmlformats.org/officeDocument/2006/relationships/notesMaster" Target="/ppt/notesMasters/notesMaster1.xml" Id="Rb7d15fa6ee1341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96ecd3c722454f" /><Relationship Type="http://schemas.openxmlformats.org/officeDocument/2006/relationships/notesMaster" Target="/ppt/notesMasters/notesMaster1.xml" Id="R79b05e58b2bc44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250262cd341c0" /><Relationship Type="http://schemas.openxmlformats.org/officeDocument/2006/relationships/notesMaster" Target="/ppt/notesMasters/notesMaster1.xml" Id="R8bc7a18a0ed2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4ca77ae64489b" /><Relationship Type="http://schemas.openxmlformats.org/officeDocument/2006/relationships/notesMaster" Target="/ppt/notesMasters/notesMaster1.xml" Id="R2c337e4f92e249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5fe92fd34449b" /><Relationship Type="http://schemas.openxmlformats.org/officeDocument/2006/relationships/notesMaster" Target="/ppt/notesMasters/notesMaster1.xml" Id="R80c2172628c1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dc9d970f646c5" /><Relationship Type="http://schemas.openxmlformats.org/officeDocument/2006/relationships/notesMaster" Target="/ppt/notesMasters/notesMaster1.xml" Id="R8e0b1264619d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f04aa438d4860" /><Relationship Type="http://schemas.openxmlformats.org/officeDocument/2006/relationships/notesMaster" Target="/ppt/notesMasters/notesMaster1.xml" Id="R4460485130d949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5f24c8b11b4217" /><Relationship Type="http://schemas.openxmlformats.org/officeDocument/2006/relationships/notesMaster" Target="/ppt/notesMasters/notesMaster1.xml" Id="R56361ea7982d41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833b596c4740d5" /><Relationship Type="http://schemas.openxmlformats.org/officeDocument/2006/relationships/notesMaster" Target="/ppt/notesMasters/notesMaster1.xml" Id="R2f09d8cc742e4e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79dbb080364da5" /><Relationship Type="http://schemas.openxmlformats.org/officeDocument/2006/relationships/notesMaster" Target="/ppt/notesMasters/notesMaster1.xml" Id="R146a1bdbfa8a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4c61a849214204" /><Relationship Type="http://schemas.openxmlformats.org/officeDocument/2006/relationships/notesMaster" Target="/ppt/notesMasters/notesMaster1.xml" Id="R8dcb864f4c0e47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fc626d89f14e1c" /><Relationship Type="http://schemas.openxmlformats.org/officeDocument/2006/relationships/notesMaster" Target="/ppt/notesMasters/notesMaster1.xml" Id="R8fa509db57834c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42c3238a384047" /><Relationship Type="http://schemas.openxmlformats.org/officeDocument/2006/relationships/notesMaster" Target="/ppt/notesMasters/notesMaster1.xml" Id="R6f5484af49a642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11daecb6a24d21" /><Relationship Type="http://schemas.openxmlformats.org/officeDocument/2006/relationships/notesMaster" Target="/ppt/notesMasters/notesMaster1.xml" Id="Rd50a4b8cd39142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9ef162a2f540ff" /><Relationship Type="http://schemas.openxmlformats.org/officeDocument/2006/relationships/notesMaster" Target="/ppt/notesMasters/notesMaster1.xml" Id="Re5b1d1d831364b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e312e97d5844d2" /><Relationship Type="http://schemas.openxmlformats.org/officeDocument/2006/relationships/notesMaster" Target="/ppt/notesMasters/notesMaster1.xml" Id="R30e62697d08a4b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b818b9b51f4aef" /><Relationship Type="http://schemas.openxmlformats.org/officeDocument/2006/relationships/notesMaster" Target="/ppt/notesMasters/notesMaster1.xml" Id="Raaf4fb7738714a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42d7c4578341a6" /><Relationship Type="http://schemas.openxmlformats.org/officeDocument/2006/relationships/notesMaster" Target="/ppt/notesMasters/notesMaster1.xml" Id="R79446094f17e4b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8ea4781b9b4c99" /><Relationship Type="http://schemas.openxmlformats.org/officeDocument/2006/relationships/notesMaster" Target="/ppt/notesMasters/notesMaster1.xml" Id="R09b6f3ae2b064b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a4dde42554421b" /><Relationship Type="http://schemas.openxmlformats.org/officeDocument/2006/relationships/notesMaster" Target="/ppt/notesMasters/notesMaster1.xml" Id="R9d61145b038247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860cfe5c254fe9" /><Relationship Type="http://schemas.openxmlformats.org/officeDocument/2006/relationships/notesMaster" Target="/ppt/notesMasters/notesMaster1.xml" Id="R0dcfb30075f8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351af705d422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306e26c6ab4792" /><Relationship Type="http://schemas.openxmlformats.org/officeDocument/2006/relationships/slideLayout" Target="/ppt/slideLayouts/slideLayout1.xml" Id="R081c0d346b364ab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c0d346b364ab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4504533aa4fc4" /><Relationship Type="http://schemas.openxmlformats.org/officeDocument/2006/relationships/notesSlide" Target="/ppt/notesSlides/notesSlide1.xml" Id="R08dec6ed21ae44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b63eb43f74e56" /><Relationship Type="http://schemas.openxmlformats.org/officeDocument/2006/relationships/notesSlide" Target="/ppt/notesSlides/notesSlide2.xml" Id="Rf19d778eefd644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014c9dd95479c" /><Relationship Type="http://schemas.openxmlformats.org/officeDocument/2006/relationships/notesSlide" Target="/ppt/notesSlides/notesSlide3.xml" Id="Rdfb926fc87d64a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c88e6267842cb" /><Relationship Type="http://schemas.openxmlformats.org/officeDocument/2006/relationships/notesSlide" Target="/ppt/notesSlides/notesSlide4.xml" Id="Re15e91cc6b4a48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916cf36c149ea" /><Relationship Type="http://schemas.openxmlformats.org/officeDocument/2006/relationships/notesSlide" Target="/ppt/notesSlides/notesSlide5.xml" Id="Rd58bdac75074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787cf25aa494f" /><Relationship Type="http://schemas.openxmlformats.org/officeDocument/2006/relationships/notesSlide" Target="/ppt/notesSlides/notesSlide6.xml" Id="R07e0dde283e842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19cd478b4b99" /><Relationship Type="http://schemas.openxmlformats.org/officeDocument/2006/relationships/notesSlide" Target="/ppt/notesSlides/notesSlide7.xml" Id="R71a78490e99047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a82479e94edc" /><Relationship Type="http://schemas.openxmlformats.org/officeDocument/2006/relationships/image" Target="/ppt/media/image.png" Id="Rb416f9b784014164" /><Relationship Type="http://schemas.openxmlformats.org/officeDocument/2006/relationships/notesSlide" Target="/ppt/notesSlides/notesSlide8.xml" Id="R66a8246277e14f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bdc1d71574405" /><Relationship Type="http://schemas.openxmlformats.org/officeDocument/2006/relationships/notesSlide" Target="/ppt/notesSlides/notesSlide9.xml" Id="Rf0c0e59ab641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1c088d68540cb" /><Relationship Type="http://schemas.openxmlformats.org/officeDocument/2006/relationships/image" Target="/ppt/media/image2.png" Id="R25eebee78fec4143" /><Relationship Type="http://schemas.openxmlformats.org/officeDocument/2006/relationships/notesSlide" Target="/ppt/notesSlides/notesSlide10.xml" Id="Ra9202ef4726c47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cc06444764f52" /><Relationship Type="http://schemas.openxmlformats.org/officeDocument/2006/relationships/notesSlide" Target="/ppt/notesSlides/notesSlide11.xml" Id="R0f4de71ddcd44a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3f683b0049c6" /><Relationship Type="http://schemas.openxmlformats.org/officeDocument/2006/relationships/image" Target="/ppt/media/image3.png" Id="R4ff1e9c1019a4069" /><Relationship Type="http://schemas.openxmlformats.org/officeDocument/2006/relationships/image" Target="/ppt/media/image4.png" Id="R6e531f1e466641c1" /><Relationship Type="http://schemas.openxmlformats.org/officeDocument/2006/relationships/notesSlide" Target="/ppt/notesSlides/notesSlide12.xml" Id="R09b531b8b6db49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21a743391419e" /><Relationship Type="http://schemas.openxmlformats.org/officeDocument/2006/relationships/image" Target="/ppt/media/image5.png" Id="R16e1587c62e64fc4" /><Relationship Type="http://schemas.openxmlformats.org/officeDocument/2006/relationships/image" Target="/ppt/media/image6.png" Id="R491755158cb9426b" /><Relationship Type="http://schemas.openxmlformats.org/officeDocument/2006/relationships/notesSlide" Target="/ppt/notesSlides/notesSlide13.xml" Id="R58f2d31358614d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f40d309de4a80" /><Relationship Type="http://schemas.openxmlformats.org/officeDocument/2006/relationships/image" Target="/ppt/media/image7.png" Id="Rac011796dc6242bb" /><Relationship Type="http://schemas.openxmlformats.org/officeDocument/2006/relationships/image" Target="/ppt/media/image8.png" Id="Rfe41059d949f4a56" /><Relationship Type="http://schemas.openxmlformats.org/officeDocument/2006/relationships/notesSlide" Target="/ppt/notesSlides/notesSlide14.xml" Id="R84657899a13e43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cbf1539a483b" /><Relationship Type="http://schemas.openxmlformats.org/officeDocument/2006/relationships/notesSlide" Target="/ppt/notesSlides/notesSlide15.xml" Id="R511706a4c70b49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35200eb944922" /><Relationship Type="http://schemas.openxmlformats.org/officeDocument/2006/relationships/notesSlide" Target="/ppt/notesSlides/notesSlide16.xml" Id="R7e8250fd4fdc42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894383fd743c7" /><Relationship Type="http://schemas.openxmlformats.org/officeDocument/2006/relationships/notesSlide" Target="/ppt/notesSlides/notesSlide17.xml" Id="R4ff3bda775de4c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0d83bf1a141b2" /><Relationship Type="http://schemas.openxmlformats.org/officeDocument/2006/relationships/notesSlide" Target="/ppt/notesSlides/notesSlide18.xml" Id="R3dcb2822ce9146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9356723204ee0" /><Relationship Type="http://schemas.openxmlformats.org/officeDocument/2006/relationships/notesSlide" Target="/ppt/notesSlides/notesSlide19.xml" Id="R58681c861b9a45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cdb3042cc4243" /><Relationship Type="http://schemas.openxmlformats.org/officeDocument/2006/relationships/notesSlide" Target="/ppt/notesSlides/notesSlide20.xml" Id="R53ef952c65784e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9479bc414633" /><Relationship Type="http://schemas.openxmlformats.org/officeDocument/2006/relationships/notesSlide" Target="/ppt/notesSlides/notesSlide21.xml" Id="R28f0eff0f6e248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51fa2995f4347" /><Relationship Type="http://schemas.openxmlformats.org/officeDocument/2006/relationships/notesSlide" Target="/ppt/notesSlides/notesSlide22.xml" Id="R9d7ba3cfa7bb43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4e3285dc34da2" /><Relationship Type="http://schemas.openxmlformats.org/officeDocument/2006/relationships/notesSlide" Target="/ppt/notesSlides/notesSlide23.xml" Id="Ra6c25341f21c41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">
            <a:extLst xmlns:a="http://schemas.openxmlformats.org/drawingml/2006/main">
              <a:ext uri="{FF2B5EF4-FFF2-40B4-BE49-F238E27FC236}">
                <a16:creationId xmlns:a16="http://schemas.microsoft.com/office/drawing/2014/main" id="{E751FF2B-97DB-46D6-A3BA-3A9DEB3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7C8851CE-5BAB-4A50-859B-E809A50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PROJECT OCH | SYSTEM DESIGNER PORTFOLIO</a:t>
            </a:r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50C32DA0-C766-485D-8BD1-D700BA0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429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플레이어가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‘다음 수’를 읽게 만드는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전투 설계</a:t>
            </a: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74CED744-1FF6-4A37-A304-FE52926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C6D2D7"/>
                </a:solidFill>
                <a:latin typeface="Noto Sans KR"/>
                <a:ea typeface="Noto Sans KR"/>
                <a:cs typeface="Noto Sans KR"/>
              </a:rPr>
              <a:t>역기획에서 출발해, 역할 가치와 서버 권한형 전투 루프로 재해석한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C6D2D7"/>
                </a:solidFill>
                <a:latin typeface="Noto Sans KR"/>
                <a:ea typeface="Noto Sans KR"/>
                <a:cs typeface="Noto Sans KR"/>
              </a:rPr>
              <a:t>온라인 턴제 전술 RPG 프로토타입</a:t>
            </a: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66E8CE22-6605-4738-9F3E-AEEAC8BF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38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6F04E65B-EFD9-4905-99D4-791EF8B9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0829EC52-7869-4E8F-B95A-DC63283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B47F70A6-4389-4EC9-9AB9-2C16EC2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2BD0D46B-894D-4B5F-B458-CD34B7D0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479559C5-1410-4284-99AD-2921CCE8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18D15F21-B5C3-4A7A-90FB-D1B2C0D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76D8827A-7FAC-4E8B-859D-73C797F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1">
            <a:extLst xmlns:a="http://schemas.openxmlformats.org/drawingml/2006/main">
              <a:ext uri="{FF2B5EF4-FFF2-40B4-BE49-F238E27FC236}">
                <a16:creationId xmlns:a16="http://schemas.microsoft.com/office/drawing/2014/main" id="{10A9A4F4-81E0-46DB-9808-1AED1E7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53AA84B1-B11F-4A63-9ECC-80F6D393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70946BF2-BDA2-4E6E-B065-F46123D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CB38319E-5E1C-45D8-8348-4EDF2D2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B74B53D5-C382-4A48-9447-A25E95F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37D3A820-1DA2-45DF-BFF9-7A3DF81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F2C70C6D-B251-41B4-B3B7-3500839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59B3D420-2EFB-48A2-A5DC-C7529CE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272D4534-1BED-4405-B417-AAE63D5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60304C1F-26EF-491D-8B71-07441D50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81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2FDC5506-1F4F-4588-A40E-250A8C2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C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522BAC7F-963A-43BE-BB45-2783325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" name="Google Shape;40;p1">
            <a:extLst xmlns:a="http://schemas.openxmlformats.org/drawingml/2006/main">
              <a:ext uri="{FF2B5EF4-FFF2-40B4-BE49-F238E27FC236}">
                <a16:creationId xmlns:a16="http://schemas.microsoft.com/office/drawing/2014/main" id="{5E32DC33-0006-4368-8171-DD1CC87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384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" name="Google Shape;41;p1">
            <a:extLst xmlns:a="http://schemas.openxmlformats.org/drawingml/2006/main">
              <a:ext uri="{FF2B5EF4-FFF2-40B4-BE49-F238E27FC236}">
                <a16:creationId xmlns:a16="http://schemas.microsoft.com/office/drawing/2014/main" id="{E43113D4-EAD9-4370-8B1B-920E48B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GAME SYSTEM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DESIGNER</a:t>
            </a:r>
          </a:p>
        </p:txBody>
      </p:sp>
      <p:sp>
        <p:nvSpPr>
          <p:cNvPr id="42" name="Google Shape;42;p1">
            <a:extLst xmlns:a="http://schemas.openxmlformats.org/drawingml/2006/main">
              <a:ext uri="{FF2B5EF4-FFF2-40B4-BE49-F238E27FC236}">
                <a16:creationId xmlns:a16="http://schemas.microsoft.com/office/drawing/2014/main" id="{99BFB8B2-CE78-4D54-8845-6DB5A1C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79631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8F1BE13-9D42-4076-AEDF-6FFFD45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 / PROJECT OVERVIEW</a:t>
            </a:r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4C6E1091-1DB7-4CB5-92B4-B4E949F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88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Project OCH는 서버 권한형 온라인 턴제 전술 RPG 개발 프로젝트입니다.</a:t>
            </a:r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327263E1-A197-4C12-8D72-712A104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역할 가치와 전장 규칙을 실제 플레이 가능한 전투 루프로 구현하는 데 집중했습니다.</a:t>
            </a:r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C6021D36-5636-4366-B6C1-F1B884F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2">
            <a:extLst xmlns:a="http://schemas.openxmlformats.org/drawingml/2006/main">
              <a:ext uri="{FF2B5EF4-FFF2-40B4-BE49-F238E27FC236}">
                <a16:creationId xmlns:a16="http://schemas.microsoft.com/office/drawing/2014/main" id="{5EE7DBAC-469F-44F0-831F-681A22D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1C6D8B7D-BC4F-4F28-8882-7EBA97F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온라인 턴제 전술 RPG</a:t>
            </a:r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E08412F0-B5B4-4A5A-B4F1-223B7A6A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헥스 전장 · PvP 전투 · 서버 판정</a:t>
            </a:r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4E1A52D6-3AE7-4930-A467-7714A1C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21606855-EBE7-4DDA-8B3E-20ADF0EA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MY FOCUS</a:t>
            </a:r>
          </a:p>
        </p:txBody>
      </p:sp>
      <p:sp>
        <p:nvSpPr>
          <p:cNvPr id="57" name="Google Shape;57;p2">
            <a:extLst xmlns:a="http://schemas.openxmlformats.org/drawingml/2006/main">
              <a:ext uri="{FF2B5EF4-FFF2-40B4-BE49-F238E27FC236}">
                <a16:creationId xmlns:a16="http://schemas.microsoft.com/office/drawing/2014/main" id="{A9710E3A-CC13-46B4-A8A8-909DF6E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전투 시스템 설계</a:t>
            </a:r>
          </a:p>
        </p:txBody>
      </p:sp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F63123D4-E18B-4274-A65D-F5C3878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역할 · 행동 · ZOC · 전장 데이터</a:t>
            </a:r>
          </a:p>
        </p:txBody>
      </p:sp>
      <p:sp>
        <p:nvSpPr>
          <p:cNvPr id="59" name="Google Shape;59;p2">
            <a:extLst xmlns:a="http://schemas.openxmlformats.org/drawingml/2006/main">
              <a:ext uri="{FF2B5EF4-FFF2-40B4-BE49-F238E27FC236}">
                <a16:creationId xmlns:a16="http://schemas.microsoft.com/office/drawing/2014/main" id="{605664AD-2D73-44E6-83B6-621999C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6AE0E806-7E37-4AEB-9735-4340E34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IMPLEMENTED SCOPE</a:t>
            </a:r>
          </a:p>
        </p:txBody>
      </p:sp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50A40998-9BF9-4454-A5A1-ED4D45A2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검증 가능한 전투 루프</a:t>
            </a: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241AB602-AA6B-4B67-BD7D-3B201F3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스킬 데이터 · 맵 판정 · 상태 동기화</a:t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CE35A697-3DAF-4354-B7BD-91827B83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핵심 질문  /  전술 RPG에서 각 역할은 어떤 방식으로 플레이어의 다음 선택을 바꾸는가?</a:t>
            </a: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0695A51E-337B-4001-B454-0BC81B5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5281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A7819138-1568-4864-9A68-07F0DFD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02 / DESIGN THESIS</a:t>
            </a: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57ADC4F4-20B9-4081-9BA8-AE327010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역할 차이를 ‘선택의 차이’로 설계합니다.</a:t>
            </a:r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CB19845E-D92D-45B4-AC85-4CBA3B9B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수치 우위보다, 플레이어가 서로 다른 판단을 하게 만드는 전투를 목표로 했습니다.</a:t>
            </a: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CA52A338-A8FA-4062-8F9B-37BCEB6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23BBF45E-ADB4-4A6B-9E37-9A5CDB1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F9FC6E12-EFD4-4BFE-940A-7B39058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RANGED</a:t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BBC7736E-18E6-45FA-97C1-B84412E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안정성</a:t>
            </a: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4BEAEF37-D8C5-49E0-B70C-2DE1967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안정적인 딜과 서포팅.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대신 반응 공격은 불가능.</a:t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50A12F73-417D-4B6F-822E-8F71CE1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81D1DD7D-9C52-49E0-B168-5D7F2079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05B3DC7F-142E-41DB-A671-2402CFD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MELEE</a:t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A56D6A2C-63EA-4FA6-89D8-3329A9F0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고변동성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DF2709BB-6A6F-4F4E-8657-E6D9FBA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반격·경합으로 전투가 흔들림.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폭발력과 위험을 함께 가짐.</a:t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159E7D64-F784-4F5D-B614-23A30AE0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E5870E0F-723B-4567-BEC6-27575BA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8873B3E6-27F2-428A-AD92-2DEEF4B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TANK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C015C972-1411-4517-B158-A6728E9A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62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공간·지속력</a:t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47CAD9E7-0643-4833-8D68-AE48D54C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ZOC로 동선을 제한하고,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Armor 회복으로 전선에 남음.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0DCDA61C-6FBC-4826-90D6-CCF0B62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516473"/>
                </a:solidFill>
                <a:latin typeface="Noto Sans KR"/>
                <a:ea typeface="Noto Sans KR"/>
                <a:cs typeface="Noto Sans KR"/>
              </a:rPr>
              <a:t>핵심 질문  /  같은 전투 안에서 각 역할이 무엇을 ‘안정적으로’ 혹은 ‘위험하게’ 할 수 있는가?</a:t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077EDF7E-237B-458B-AE19-D8D0318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605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893026A0-BFCE-4ECC-B1F4-1F3F3623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03 / ANALYSIS → REINTERPRETATION</a:t>
            </a:r>
          </a:p>
        </p:txBody>
      </p:sp>
      <p:sp>
        <p:nvSpPr>
          <p:cNvPr id="96" name="Google Shape;96;p4">
            <a:extLst xmlns:a="http://schemas.openxmlformats.org/drawingml/2006/main">
              <a:ext uri="{FF2B5EF4-FFF2-40B4-BE49-F238E27FC236}">
                <a16:creationId xmlns:a16="http://schemas.microsoft.com/office/drawing/2014/main" id="{49886B9F-F3A5-4394-99E5-2EB6481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레퍼런스 분석을 내 전투 가설로 바꿨습니다.</a:t>
            </a:r>
          </a:p>
        </p:txBody>
      </p:sp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83B50F39-0CE1-4DB6-B093-88C4BD8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Battle Brothers와 Darkest Dungeon에서 읽은 구조를, Project OCH의 역할 설계로 재해석했습니다.</a:t>
            </a:r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435FE16B-7653-4ED5-BDAB-9283C152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5EFE58EB-689A-441E-89A8-D4026C11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" name="Google Shape;100;p4">
            <a:extLst xmlns:a="http://schemas.openxmlformats.org/drawingml/2006/main">
              <a:ext uri="{FF2B5EF4-FFF2-40B4-BE49-F238E27FC236}">
                <a16:creationId xmlns:a16="http://schemas.microsoft.com/office/drawing/2014/main" id="{4F2AAC0C-898A-4515-9265-D8C28802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BATTLE BROTHERS</a:t>
            </a:r>
          </a:p>
        </p:txBody>
      </p:sp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A3E9DBAD-3A17-4ADB-A56B-3186E00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위치와 압박</a:t>
            </a:r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5756A7F5-CF1E-4861-8322-B51A698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헥스·ZOC·포위가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이동 자체를 자원으로 만듦.</a:t>
            </a:r>
          </a:p>
        </p:txBody>
      </p:sp>
      <p:sp>
        <p:nvSpPr>
          <p:cNvPr id="103" name="Google Shape;103;p4">
            <a:extLst xmlns:a="http://schemas.openxmlformats.org/drawingml/2006/main">
              <a:ext uri="{FF2B5EF4-FFF2-40B4-BE49-F238E27FC236}">
                <a16:creationId xmlns:a16="http://schemas.microsoft.com/office/drawing/2014/main" id="{A45A8FDB-F446-4E9C-B031-591395A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DA1EDC90-E070-4484-8D12-ADE5CFF0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E541BE25-F55B-47A8-B6EC-BF1A84A6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DARKEST DUNGEON</a:t>
            </a:r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4AD1B3FD-4EC8-443B-8E52-C489F5E2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지속과 불안정성</a:t>
            </a:r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79D76D9F-DBF5-46B6-9444-D59CEA8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사기·피로·명중 안정성은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전투의 리듬을 바꿈.</a:t>
            </a:r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19B628B6-F869-450B-B946-F65527B9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7405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62CFE063-59A3-4332-A3AC-07B959C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CD2E10B6-BBBE-409C-801B-EC19270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PROJECT OCH</a:t>
            </a:r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F8981574-C7EA-4465-AEF8-814FF32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57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역할 가치 가설</a:t>
            </a:r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E3E26950-A22D-4791-BAA6-1A5D09F8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안정성 / 고변동성 /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BDCAD2"/>
                </a:solidFill>
                <a:latin typeface="Noto Sans KR"/>
                <a:ea typeface="Noto Sans KR"/>
                <a:cs typeface="Noto Sans KR"/>
              </a:rPr>
              <a:t>공간 통제를 역할별로 분리.</a:t>
            </a:r>
          </a:p>
        </p:txBody>
      </p:sp>
      <p:cxnSp>
        <p:nvCxnSpPr>
          <p:cNvPr id="137" name="Google Shape;113;p4"/>
          <p:cNvCxnSpPr/>
          <p:nvPr/>
        </p:nvCxnSpPr>
        <p:spPr>
          <a:xfrm xmlns:a="http://schemas.openxmlformats.org/drawingml/2006/main">
            <a:off x="3943350" y="36385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D93AED59-7FE6-4711-8AFF-57539DB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33875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139" name="Google Shape;115;p4"/>
          <p:cNvCxnSpPr/>
          <p:nvPr/>
        </p:nvCxnSpPr>
        <p:spPr>
          <a:xfrm xmlns:a="http://schemas.openxmlformats.org/drawingml/2006/main">
            <a:off x="7734300" y="3638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D9467662-253A-490B-8E8B-A267067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4">
            <a:extLst xmlns:a="http://schemas.openxmlformats.org/drawingml/2006/main">
              <a:ext uri="{FF2B5EF4-FFF2-40B4-BE49-F238E27FC236}">
                <a16:creationId xmlns:a16="http://schemas.microsoft.com/office/drawing/2014/main" id="{2470A5B5-1EBF-4D53-85EA-3A25FA6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※ 레퍼런스의 시스템을 그대로 재현한 것이 아니라, 분석한 설계 원리를 프로젝트 조건에 맞춰 다시 조합했습니다.</a:t>
            </a:r>
          </a:p>
        </p:txBody>
      </p:sp>
      <p:sp>
        <p:nvSpPr>
          <p:cNvPr id="118" name="Google Shape;118;p4">
            <a:extLst xmlns:a="http://schemas.openxmlformats.org/drawingml/2006/main">
              <a:ext uri="{FF2B5EF4-FFF2-40B4-BE49-F238E27FC236}">
                <a16:creationId xmlns:a16="http://schemas.microsoft.com/office/drawing/2014/main" id="{2C96B531-5392-4889-B999-0285436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4085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5">
            <a:extLst xmlns:a="http://schemas.openxmlformats.org/drawingml/2006/main">
              <a:ext uri="{FF2B5EF4-FFF2-40B4-BE49-F238E27FC236}">
                <a16:creationId xmlns:a16="http://schemas.microsoft.com/office/drawing/2014/main" id="{B96ADD4E-A799-424F-9BE6-919BF9B4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04 / DESIGN QUESTION</a:t>
            </a:r>
          </a:p>
        </p:txBody>
      </p:sp>
      <p:sp>
        <p:nvSpPr>
          <p:cNvPr id="125" name="Google Shape;125;p5">
            <a:extLst xmlns:a="http://schemas.openxmlformats.org/drawingml/2006/main">
              <a:ext uri="{FF2B5EF4-FFF2-40B4-BE49-F238E27FC236}">
                <a16:creationId xmlns:a16="http://schemas.microsoft.com/office/drawing/2014/main" id="{92B4F9E6-AE89-4485-B513-68DDE72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전술 RPG에서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탱커의 가치를 어떻게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만들 것인가?</a:t>
            </a:r>
          </a:p>
        </p:txBody>
      </p:sp>
      <p:sp>
        <p:nvSpPr>
          <p:cNvPr id="126" name="Google Shape;126;p5">
            <a:extLst xmlns:a="http://schemas.openxmlformats.org/drawingml/2006/main">
              <a:ext uri="{FF2B5EF4-FFF2-40B4-BE49-F238E27FC236}">
                <a16:creationId xmlns:a16="http://schemas.microsoft.com/office/drawing/2014/main" id="{73186EBE-ADE1-4278-B448-6DD4CF1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원거리보다 낮은 단발 피해만으로는 탱커가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‘필요한 선택지’가 되기 어렵다고 보았습니다.</a:t>
            </a:r>
          </a:p>
        </p:txBody>
      </p:sp>
      <p:sp>
        <p:nvSpPr>
          <p:cNvPr id="127" name="Google Shape;127;p5">
            <a:extLst xmlns:a="http://schemas.openxmlformats.org/drawingml/2006/main">
              <a:ext uri="{FF2B5EF4-FFF2-40B4-BE49-F238E27FC236}">
                <a16:creationId xmlns:a16="http://schemas.microsoft.com/office/drawing/2014/main" id="{66F5D29E-8780-4903-845A-47FB42F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181100"/>
            <a:ext cx="3619500" cy="3790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5">
            <a:extLst xmlns:a="http://schemas.openxmlformats.org/drawingml/2006/main">
              <a:ext uri="{FF2B5EF4-FFF2-40B4-BE49-F238E27FC236}">
                <a16:creationId xmlns:a16="http://schemas.microsoft.com/office/drawing/2014/main" id="{1DB29A52-CCA7-48E8-96C6-8A25C39C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VALUE</a:t>
            </a:r>
          </a:p>
        </p:txBody>
      </p:sp>
      <p:sp>
        <p:nvSpPr>
          <p:cNvPr id="129" name="Google Shape;129;p5">
            <a:extLst xmlns:a="http://schemas.openxmlformats.org/drawingml/2006/main">
              <a:ext uri="{FF2B5EF4-FFF2-40B4-BE49-F238E27FC236}">
                <a16:creationId xmlns:a16="http://schemas.microsoft.com/office/drawing/2014/main" id="{535BEF51-1F1B-4675-A880-7683CAD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피해량이 아니라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‘적이 무시하기 어려운 자리’를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14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만들어야 한다.</a:t>
            </a:r>
          </a:p>
        </p:txBody>
      </p:sp>
      <p:sp>
        <p:nvSpPr>
          <p:cNvPr id="130" name="Google Shape;130;p5">
            <a:extLst xmlns:a="http://schemas.openxmlformats.org/drawingml/2006/main">
              <a:ext uri="{FF2B5EF4-FFF2-40B4-BE49-F238E27FC236}">
                <a16:creationId xmlns:a16="http://schemas.microsoft.com/office/drawing/2014/main" id="{8FF962FF-4887-48E8-9064-74DDD95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838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B1314C02-0FE8-40E5-A9FE-147F924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14F7AEA6-8A76-4677-ACC6-A4028B29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043FAA31-6BF1-434E-BC26-36929536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091A2D"/>
                </a:solidFill>
                <a:latin typeface="Noto Sans KR"/>
                <a:ea typeface="Noto Sans KR"/>
                <a:cs typeface="Noto Sans KR"/>
              </a:rPr>
              <a:t>Armor</a:t>
            </a:r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C44ED1C7-6DDE-4B4F-A0D2-CDC3CE6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1571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405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CAF3FCB1-FC70-4541-B3DF-B83E4C9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Hold line</a:t>
            </a: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F159E1AF-EC59-4634-A8CD-6B8B810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해결 완료가 아닌 검증할 설계 가설</a:t>
            </a: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3D167FFF-8A87-4A89-9EC9-188B0EC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5730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6">
            <a:extLst xmlns:a="http://schemas.openxmlformats.org/drawingml/2006/main">
              <a:ext uri="{FF2B5EF4-FFF2-40B4-BE49-F238E27FC236}">
                <a16:creationId xmlns:a16="http://schemas.microsoft.com/office/drawing/2014/main" id="{96D28111-893F-47EC-9520-A4F7B19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05 / ROLE VALUE MAP</a:t>
            </a:r>
          </a:p>
        </p:txBody>
      </p:sp>
      <p:sp>
        <p:nvSpPr>
          <p:cNvPr id="144" name="Google Shape;144;p6">
            <a:extLst xmlns:a="http://schemas.openxmlformats.org/drawingml/2006/main">
              <a:ext uri="{FF2B5EF4-FFF2-40B4-BE49-F238E27FC236}">
                <a16:creationId xmlns:a16="http://schemas.microsoft.com/office/drawing/2014/main" id="{8227D105-CF5D-4627-B715-7C73448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같은 ‘공격’도 역할마다 다른 리스크를 가집니다.</a:t>
            </a:r>
          </a:p>
        </p:txBody>
      </p:sp>
      <p:sp>
        <p:nvSpPr>
          <p:cNvPr id="145" name="Google Shape;145;p6">
            <a:extLst xmlns:a="http://schemas.openxmlformats.org/drawingml/2006/main">
              <a:ext uri="{FF2B5EF4-FFF2-40B4-BE49-F238E27FC236}">
                <a16:creationId xmlns:a16="http://schemas.microsoft.com/office/drawing/2014/main" id="{7FFC9B51-BDB1-4FB9-8C01-C8DF365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안정성, 반응성, 공간 통제, 지속력을 분리해 선택의 결을 만들었습니다.</a:t>
            </a:r>
          </a:p>
        </p:txBody>
      </p:sp>
      <p:sp>
        <p:nvSpPr>
          <p:cNvPr id="146" name="Google Shape;146;p6">
            <a:extLst xmlns:a="http://schemas.openxmlformats.org/drawingml/2006/main">
              <a:ext uri="{FF2B5EF4-FFF2-40B4-BE49-F238E27FC236}">
                <a16:creationId xmlns:a16="http://schemas.microsoft.com/office/drawing/2014/main" id="{88F0C20C-2278-4B07-9D3B-2800407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6">
            <a:extLst xmlns:a="http://schemas.openxmlformats.org/drawingml/2006/main">
              <a:ext uri="{FF2B5EF4-FFF2-40B4-BE49-F238E27FC236}">
                <a16:creationId xmlns:a16="http://schemas.microsoft.com/office/drawing/2014/main" id="{21FEEF75-2592-4A4F-93DA-D0879BE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8" name="Google Shape;148;p6">
            <a:extLst xmlns:a="http://schemas.openxmlformats.org/drawingml/2006/main">
              <a:ext uri="{FF2B5EF4-FFF2-40B4-BE49-F238E27FC236}">
                <a16:creationId xmlns:a16="http://schemas.microsoft.com/office/drawing/2014/main" id="{1FE7E2D5-34E6-4946-9411-9865CFC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원거리</a:t>
            </a:r>
          </a:p>
        </p:txBody>
      </p:sp>
      <p:sp>
        <p:nvSpPr>
          <p:cNvPr id="149" name="Google Shape;149;p6">
            <a:extLst xmlns:a="http://schemas.openxmlformats.org/drawingml/2006/main">
              <a:ext uri="{FF2B5EF4-FFF2-40B4-BE49-F238E27FC236}">
                <a16:creationId xmlns:a16="http://schemas.microsoft.com/office/drawing/2014/main" id="{0B49633B-E4BB-4395-BF78-0F787DB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안정 딜 / 서포트</a:t>
            </a:r>
          </a:p>
        </p:txBody>
      </p:sp>
      <p:cxnSp>
        <p:nvCxnSpPr>
          <p:cNvPr id="179" name="Google Shape;150;p6"/>
          <p:cNvCxnSpPr/>
          <p:nvPr/>
        </p:nvCxnSpPr>
        <p:spPr>
          <a:xfrm xmlns:a="http://schemas.openxmlformats.org/drawingml/2006/main">
            <a:off x="89535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6">
            <a:extLst xmlns:a="http://schemas.openxmlformats.org/drawingml/2006/main">
              <a:ext uri="{FF2B5EF4-FFF2-40B4-BE49-F238E27FC236}">
                <a16:creationId xmlns:a16="http://schemas.microsoft.com/office/drawing/2014/main" id="{D033CA8F-8870-439F-9D56-6F25FD1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반격 불가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예측 가능한 수행</a:t>
            </a:r>
          </a:p>
        </p:txBody>
      </p:sp>
      <p:sp>
        <p:nvSpPr>
          <p:cNvPr id="152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0550F1A8-F692-4DB2-867E-FA47B344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9496C31A-2241-4F42-905E-11E3707E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6">
            <a:extLst xmlns:a="http://schemas.openxmlformats.org/drawingml/2006/main">
              <a:ext uri="{FF2B5EF4-FFF2-40B4-BE49-F238E27FC236}">
                <a16:creationId xmlns:a16="http://schemas.microsoft.com/office/drawing/2014/main" id="{7DE89F01-8E0C-4592-A418-9FD5AE0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근거리 딜러</a:t>
            </a:r>
          </a:p>
        </p:txBody>
      </p:sp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280B35B0-37D1-47E9-A918-C8A634F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고변동성</a:t>
            </a:r>
          </a:p>
        </p:txBody>
      </p:sp>
      <p:cxnSp>
        <p:nvCxnSpPr>
          <p:cNvPr id="185" name="Google Shape;156;p6"/>
          <p:cNvCxnSpPr/>
          <p:nvPr/>
        </p:nvCxnSpPr>
        <p:spPr>
          <a:xfrm xmlns:a="http://schemas.openxmlformats.org/drawingml/2006/main">
            <a:off x="361950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6">
            <a:extLst xmlns:a="http://schemas.openxmlformats.org/drawingml/2006/main">
              <a:ext uri="{FF2B5EF4-FFF2-40B4-BE49-F238E27FC236}">
                <a16:creationId xmlns:a16="http://schemas.microsoft.com/office/drawing/2014/main" id="{4C642FDE-E899-4FDF-9B3F-C47CFC5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반격·경합으로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큰 보상과 위험</a:t>
            </a:r>
          </a:p>
        </p:txBody>
      </p: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8F94EBD9-1C2C-4AFB-BEE0-AD17ABD6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05A62F59-481A-467C-9854-621238BC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F3FF54D9-AA66-4ADC-B8AA-8FC47AE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제어 근거리</a:t>
            </a:r>
          </a:p>
        </p:txBody>
      </p: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4DC182D6-127B-4740-BE53-9E2D8FD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2칸 ZOC</a:t>
            </a:r>
          </a:p>
        </p:txBody>
      </p:sp>
      <p:cxnSp>
        <p:nvCxnSpPr>
          <p:cNvPr id="191" name="Google Shape;162;p6"/>
          <p:cNvCxnSpPr/>
          <p:nvPr/>
        </p:nvCxnSpPr>
        <p:spPr>
          <a:xfrm xmlns:a="http://schemas.openxmlformats.org/drawingml/2006/main">
            <a:off x="634365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C124E0D7-8CBD-495C-AEB1-DDCA6AE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Alen Spear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2칸 공격 범위</a:t>
            </a:r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B42A02D0-B137-4136-896C-9693886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6C7F85CB-DD01-4682-B7A1-6B49100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2F10AA75-51F2-4143-B15F-4FBC6A0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탱커</a:t>
            </a:r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FC8AB04A-C8B4-4D9A-8D99-99C94F2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전선 지속</a:t>
            </a:r>
          </a:p>
        </p:txBody>
      </p:sp>
      <p:cxnSp>
        <p:nvCxnSpPr>
          <p:cNvPr id="197" name="Google Shape;168;p6"/>
          <p:cNvCxnSpPr/>
          <p:nvPr/>
        </p:nvCxnSpPr>
        <p:spPr>
          <a:xfrm xmlns:a="http://schemas.openxmlformats.org/drawingml/2006/main">
            <a:off x="9067800" y="3914775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E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D67CBCA3-DB67-41EC-9687-19722FD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052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HP 비례 Armor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66976"/>
                </a:solidFill>
                <a:latin typeface="Noto Sans KR"/>
                <a:ea typeface="Noto Sans KR"/>
                <a:cs typeface="Noto Sans KR"/>
              </a:rPr>
              <a:t>매 턴 손실분 50% 회복</a:t>
            </a: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D28B256D-5C4D-4E01-A56D-EC36565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Suen Axe는 높은 회피율로, Alen Spear는 넓은 위협 범위로 ‘근거리’ 안에서도 다른 생존·통제 방식을 갖습니다.</a:t>
            </a:r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78F2C42F-F856-4FB7-B3B5-C0D166A8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386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7">
            <a:extLst xmlns:a="http://schemas.openxmlformats.org/drawingml/2006/main">
              <a:ext uri="{FF2B5EF4-FFF2-40B4-BE49-F238E27FC236}">
                <a16:creationId xmlns:a16="http://schemas.microsoft.com/office/drawing/2014/main" id="{33A3FD7F-FC8A-4EE2-9838-035BF170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06 / ACTION ECONOMY</a:t>
            </a:r>
          </a:p>
        </p:txBody>
      </p:sp>
      <p:sp>
        <p:nvSpPr>
          <p:cNvPr id="178" name="Google Shape;178;p7">
            <a:extLst xmlns:a="http://schemas.openxmlformats.org/drawingml/2006/main">
              <a:ext uri="{FF2B5EF4-FFF2-40B4-BE49-F238E27FC236}">
                <a16:creationId xmlns:a16="http://schemas.microsoft.com/office/drawing/2014/main" id="{A91D0BED-62C7-4766-8B7A-96A3C283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한 턴은 네 가지 질문으로 구성됩니다.</a:t>
            </a:r>
          </a:p>
        </p:txBody>
      </p:sp>
      <p:sp>
        <p:nvSpPr>
          <p:cNvPr id="179" name="Google Shape;179;p7">
            <a:extLst xmlns:a="http://schemas.openxmlformats.org/drawingml/2006/main">
              <a:ext uri="{FF2B5EF4-FFF2-40B4-BE49-F238E27FC236}">
                <a16:creationId xmlns:a16="http://schemas.microsoft.com/office/drawing/2014/main" id="{4C76027B-F0A4-47D2-8610-05CED49A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행동 수를 늘리는 대신, 각 행동이 서로의 선택을 바꾸도록 배치했습니다.</a:t>
            </a:r>
          </a:p>
        </p:txBody>
      </p:sp>
      <p:sp>
        <p:nvSpPr>
          <p:cNvPr id="180" name="Google Shape;180;p7">
            <a:extLst xmlns:a="http://schemas.openxmlformats.org/drawingml/2006/main">
              <a:ext uri="{FF2B5EF4-FFF2-40B4-BE49-F238E27FC236}">
                <a16:creationId xmlns:a16="http://schemas.microsoft.com/office/drawing/2014/main" id="{08F21667-7465-4AF6-BB58-43DAD19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1" name="Google Shape;181;p7">
            <a:extLst xmlns:a="http://schemas.openxmlformats.org/drawingml/2006/main">
              <a:ext uri="{FF2B5EF4-FFF2-40B4-BE49-F238E27FC236}">
                <a16:creationId xmlns:a16="http://schemas.microsoft.com/office/drawing/2014/main" id="{EB1B9FDE-EC73-45AF-A8B7-3B31C8D8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2" name="Google Shape;182;p7">
            <a:extLst xmlns:a="http://schemas.openxmlformats.org/drawingml/2006/main">
              <a:ext uri="{FF2B5EF4-FFF2-40B4-BE49-F238E27FC236}">
                <a16:creationId xmlns:a16="http://schemas.microsoft.com/office/drawing/2014/main" id="{3C6130A3-6094-4FAC-A630-789CD58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이동</a:t>
            </a:r>
          </a:p>
        </p:txBody>
      </p:sp>
      <p:sp>
        <p:nvSpPr>
          <p:cNvPr id="183" name="Google Shape;183;p7">
            <a:extLst xmlns:a="http://schemas.openxmlformats.org/drawingml/2006/main">
              <a:ext uri="{FF2B5EF4-FFF2-40B4-BE49-F238E27FC236}">
                <a16:creationId xmlns:a16="http://schemas.microsoft.com/office/drawing/2014/main" id="{9CB7831F-B9C4-4EF6-BB5B-BCB4865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안전한 위치인가?</a:t>
            </a:r>
          </a:p>
        </p:txBody>
      </p:sp>
      <p:cxnSp>
        <p:nvCxnSpPr>
          <p:cNvPr id="211" name="Google Shape;184;p7"/>
          <p:cNvCxnSpPr/>
          <p:nvPr/>
        </p:nvCxnSpPr>
        <p:spPr>
          <a:xfrm xmlns:a="http://schemas.openxmlformats.org/drawingml/2006/main">
            <a:off x="30099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7">
            <a:extLst xmlns:a="http://schemas.openxmlformats.org/drawingml/2006/main">
              <a:ext uri="{FF2B5EF4-FFF2-40B4-BE49-F238E27FC236}">
                <a16:creationId xmlns:a16="http://schemas.microsoft.com/office/drawing/2014/main" id="{262C6DEB-702E-478E-A0B2-CF14905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7">
            <a:extLst xmlns:a="http://schemas.openxmlformats.org/drawingml/2006/main">
              <a:ext uri="{FF2B5EF4-FFF2-40B4-BE49-F238E27FC236}">
                <a16:creationId xmlns:a16="http://schemas.microsoft.com/office/drawing/2014/main" id="{A1A54BA5-DC51-496E-9CA9-842A340F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7" name="Google Shape;187;p7">
            <a:extLst xmlns:a="http://schemas.openxmlformats.org/drawingml/2006/main">
              <a:ext uri="{FF2B5EF4-FFF2-40B4-BE49-F238E27FC236}">
                <a16:creationId xmlns:a16="http://schemas.microsoft.com/office/drawing/2014/main" id="{2811C8B9-4279-43BB-9714-94227EA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8" name="Google Shape;188;p7">
            <a:extLst xmlns:a="http://schemas.openxmlformats.org/drawingml/2006/main">
              <a:ext uri="{FF2B5EF4-FFF2-40B4-BE49-F238E27FC236}">
                <a16:creationId xmlns:a16="http://schemas.microsoft.com/office/drawing/2014/main" id="{50A09A91-CED0-4FD4-84D9-E6E7EED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일반 행동</a:t>
            </a:r>
          </a:p>
        </p:txBody>
      </p:sp>
      <p:sp>
        <p:nvSpPr>
          <p:cNvPr id="189" name="Google Shape;189;p7">
            <a:extLst xmlns:a="http://schemas.openxmlformats.org/drawingml/2006/main">
              <a:ext uri="{FF2B5EF4-FFF2-40B4-BE49-F238E27FC236}">
                <a16:creationId xmlns:a16="http://schemas.microsoft.com/office/drawing/2014/main" id="{E366214E-6516-4FEE-A65C-21C4F36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지금 교환할 것인가?</a:t>
            </a:r>
          </a:p>
        </p:txBody>
      </p:sp>
      <p:cxnSp>
        <p:nvCxnSpPr>
          <p:cNvPr id="217" name="Google Shape;190;p7"/>
          <p:cNvCxnSpPr/>
          <p:nvPr/>
        </p:nvCxnSpPr>
        <p:spPr>
          <a:xfrm xmlns:a="http://schemas.openxmlformats.org/drawingml/2006/main">
            <a:off x="57150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7">
            <a:extLst xmlns:a="http://schemas.openxmlformats.org/drawingml/2006/main">
              <a:ext uri="{FF2B5EF4-FFF2-40B4-BE49-F238E27FC236}">
                <a16:creationId xmlns:a16="http://schemas.microsoft.com/office/drawing/2014/main" id="{30584995-FD80-4E6F-AED5-AE614AB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7">
            <a:extLst xmlns:a="http://schemas.openxmlformats.org/drawingml/2006/main">
              <a:ext uri="{FF2B5EF4-FFF2-40B4-BE49-F238E27FC236}">
                <a16:creationId xmlns:a16="http://schemas.microsoft.com/office/drawing/2014/main" id="{8A46BBDA-6114-424E-A895-C4B7523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7">
            <a:extLst xmlns:a="http://schemas.openxmlformats.org/drawingml/2006/main">
              <a:ext uri="{FF2B5EF4-FFF2-40B4-BE49-F238E27FC236}">
                <a16:creationId xmlns:a16="http://schemas.microsoft.com/office/drawing/2014/main" id="{E7D77B41-89C5-4655-B2D6-12B545E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4" name="Google Shape;194;p7">
            <a:extLst xmlns:a="http://schemas.openxmlformats.org/drawingml/2006/main">
              <a:ext uri="{FF2B5EF4-FFF2-40B4-BE49-F238E27FC236}">
                <a16:creationId xmlns:a16="http://schemas.microsoft.com/office/drawing/2014/main" id="{E1C23FED-FAA0-4E01-A14C-7D14E61B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궁극기</a:t>
            </a:r>
          </a:p>
        </p:txBody>
      </p:sp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56A0ACB8-9736-44AF-8D09-E9641B4D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결정적 타이밍인가?</a:t>
            </a:r>
          </a:p>
        </p:txBody>
      </p:sp>
      <p:cxnSp>
        <p:nvCxnSpPr>
          <p:cNvPr id="223" name="Google Shape;196;p7"/>
          <p:cNvCxnSpPr/>
          <p:nvPr/>
        </p:nvCxnSpPr>
        <p:spPr>
          <a:xfrm xmlns:a="http://schemas.openxmlformats.org/drawingml/2006/main">
            <a:off x="8420100" y="3752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28E19EC7-C389-47C1-BDA1-1A4F5F5C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6671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1633DB4F-2445-4EAF-BB77-EF77989F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324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3EE86B84-E7D9-47A8-8E89-2E75A6F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597DDA1F-F954-467A-8343-7F6C6F4B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337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보조 행동</a:t>
            </a: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0ABD37D8-8E7E-4E52-B7BE-7E6AB3EE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00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B8C6CF"/>
                </a:solidFill>
                <a:latin typeface="Noto Sans KR"/>
                <a:ea typeface="Noto Sans KR"/>
                <a:cs typeface="Noto Sans KR"/>
              </a:rPr>
              <a:t>위험을 완화할 것인가?</a:t>
            </a:r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31263328-2387-4D88-9A9E-F7F035A7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보조 행동과 패시브는 클래스 페어 간에 유사하게 두어, 캐릭터가 늘어도 학습 비용이 급증하지 않도록 했습니다.</a:t>
            </a:r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9874827B-7C3A-45D8-BF99-238EBD3F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5519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Google Shape;209;p8">
            <a:extLst xmlns:a="http://schemas.openxmlformats.org/drawingml/2006/main">
              <a:ext uri="{FF2B5EF4-FFF2-40B4-BE49-F238E27FC236}">
                <a16:creationId xmlns:a16="http://schemas.microsoft.com/office/drawing/2014/main" id="{F5FF5C01-52D5-48CF-856D-0AA8A48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07 / ACTION UI EVIDENCE</a:t>
            </a:r>
          </a:p>
        </p:txBody>
      </p:sp>
      <p:sp>
        <p:nvSpPr>
          <p:cNvPr id="210" name="Google Shape;210;p8">
            <a:extLst xmlns:a="http://schemas.openxmlformats.org/drawingml/2006/main">
              <a:ext uri="{FF2B5EF4-FFF2-40B4-BE49-F238E27FC236}">
                <a16:creationId xmlns:a16="http://schemas.microsoft.com/office/drawing/2014/main" id="{EA849D00-1289-40EE-BC69-EB19BEC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행동 경제는 실제 전투 UI의 스킬 슬롯으로 연결됩니다.</a:t>
            </a:r>
          </a:p>
        </p:txBody>
      </p:sp>
      <p:sp>
        <p:nvSpPr>
          <p:cNvPr id="211" name="Google Shape;211;p8">
            <a:extLst xmlns:a="http://schemas.openxmlformats.org/drawingml/2006/main">
              <a:ext uri="{FF2B5EF4-FFF2-40B4-BE49-F238E27FC236}">
                <a16:creationId xmlns:a16="http://schemas.microsoft.com/office/drawing/2014/main" id="{5E1001C4-3574-4C0E-AC72-E79B10A4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각 스킬은 ActionSlot과 비용·사거리·대상 유형을 데이터로 가지며, 플레이어는 해당 정보를 바탕으로 한 턴을 설계합니다.</a:t>
            </a:r>
          </a:p>
        </p:txBody>
      </p:sp>
      <p:pic>
        <p:nvPicPr>
          <p:cNvPr id="220" name="Google Shape;212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16f9b784014164">
            <a:alphaModFix/>
          </a:blip>
          <a:srcRect xmlns:a="http://schemas.openxmlformats.org/drawingml/2006/main" l="6054" t="0" r="6054" b="0"/>
          <a:stretch xmlns:a="http://schemas.openxmlformats.org/drawingml/2006/main"/>
        </p:blipFill>
        <p:spPr>
          <a:xfrm xmlns:a="http://schemas.openxmlformats.org/drawingml/2006/main">
            <a:off x="685800" y="2619375"/>
            <a:ext cx="10820400" cy="2114550"/>
          </a:xfrm>
          <a:prstGeom xmlns:a="http://schemas.openxmlformats.org/drawingml/2006/main" prst="roundRect">
            <a:avLst>
              <a:gd name="adj" fmla="val 5405"/>
            </a:avLst>
          </a:prstGeom>
          <a:ln xmlns:a="http://schemas.openxmlformats.org/drawingml/2006/main">
            <a:noFill/>
          </a:ln>
        </p:spPr>
      </p:pic>
      <p:sp>
        <p:nvSpPr>
          <p:cNvPr id="213" name="Google Shape;213;p8">
            <a:extLst xmlns:a="http://schemas.openxmlformats.org/drawingml/2006/main">
              <a:ext uri="{FF2B5EF4-FFF2-40B4-BE49-F238E27FC236}">
                <a16:creationId xmlns:a16="http://schemas.microsoft.com/office/drawing/2014/main" id="{9D24CDD0-8B36-47D8-A0CC-A02339B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실제 전투 스킬 바</a:t>
            </a:r>
          </a:p>
        </p:txBody>
      </p:sp>
      <p:sp>
        <p:nvSpPr>
          <p:cNvPr id="214" name="Google Shape;214;p8">
            <a:extLst xmlns:a="http://schemas.openxmlformats.org/drawingml/2006/main">
              <a:ext uri="{FF2B5EF4-FFF2-40B4-BE49-F238E27FC236}">
                <a16:creationId xmlns:a16="http://schemas.microsoft.com/office/drawing/2014/main" id="{9A269878-FF9D-4EC9-8F96-25B23A5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입력 UI는 행동을 보여 주고, 사용 가능 여부와 결과 판정은 서버의 전투 규칙이 확정합니다.</a:t>
            </a:r>
          </a:p>
        </p:txBody>
      </p:sp>
      <p:sp>
        <p:nvSpPr>
          <p:cNvPr id="215" name="Google Shape;215;p8">
            <a:extLst xmlns:a="http://schemas.openxmlformats.org/drawingml/2006/main">
              <a:ext uri="{FF2B5EF4-FFF2-40B4-BE49-F238E27FC236}">
                <a16:creationId xmlns:a16="http://schemas.microsoft.com/office/drawing/2014/main" id="{0DE37945-1BB5-4A72-9D43-E7D50CF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0821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9">
            <a:extLst xmlns:a="http://schemas.openxmlformats.org/drawingml/2006/main">
              <a:ext uri="{FF2B5EF4-FFF2-40B4-BE49-F238E27FC236}">
                <a16:creationId xmlns:a16="http://schemas.microsoft.com/office/drawing/2014/main" id="{656F629F-2FBB-495A-9A87-1DE15D7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08 / POSITION AS RESOURCE</a:t>
            </a:r>
          </a:p>
        </p:txBody>
      </p:sp>
      <p:sp>
        <p:nvSpPr>
          <p:cNvPr id="222" name="Google Shape;222;p9">
            <a:extLst xmlns:a="http://schemas.openxmlformats.org/drawingml/2006/main">
              <a:ext uri="{FF2B5EF4-FFF2-40B4-BE49-F238E27FC236}">
                <a16:creationId xmlns:a16="http://schemas.microsoft.com/office/drawing/2014/main" id="{A872FB9C-5EC1-4787-A7FD-7554148F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69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ZOC는 이동을 막는 규칙이 아니라, 상대의 다음 수를 바꾸는 압박입니다.</a:t>
            </a:r>
          </a:p>
        </p:txBody>
      </p:sp>
      <p:sp>
        <p:nvSpPr>
          <p:cNvPr id="223" name="Google Shape;223;p9">
            <a:extLst xmlns:a="http://schemas.openxmlformats.org/drawingml/2006/main">
              <a:ext uri="{FF2B5EF4-FFF2-40B4-BE49-F238E27FC236}">
                <a16:creationId xmlns:a16="http://schemas.microsoft.com/office/drawing/2014/main" id="{BB302961-AC55-40AF-851C-55844DD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위치에서 이탈할 때 반응 공격이 발생하므로, 경로와 자리가 전투 자원이 됩니다.</a:t>
            </a:r>
          </a:p>
        </p:txBody>
      </p:sp>
      <p:sp>
        <p:nvSpPr>
          <p:cNvPr id="224" name="Google Shape;224;p9">
            <a:extLst xmlns:a="http://schemas.openxmlformats.org/drawingml/2006/main">
              <a:ext uri="{FF2B5EF4-FFF2-40B4-BE49-F238E27FC236}">
                <a16:creationId xmlns:a16="http://schemas.microsoft.com/office/drawing/2014/main" id="{29428F1F-8C92-4021-9AAB-45BEB42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9">
            <a:extLst xmlns:a="http://schemas.openxmlformats.org/drawingml/2006/main">
              <a:ext uri="{FF2B5EF4-FFF2-40B4-BE49-F238E27FC236}">
                <a16:creationId xmlns:a16="http://schemas.microsoft.com/office/drawing/2014/main" id="{50C3A725-D2AB-4740-AFAE-C68792C4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위치 선택</a:t>
            </a:r>
          </a:p>
        </p:txBody>
      </p:sp>
      <p:sp>
        <p:nvSpPr>
          <p:cNvPr id="226" name="Google Shape;226;p9">
            <a:extLst xmlns:a="http://schemas.openxmlformats.org/drawingml/2006/main">
              <a:ext uri="{FF2B5EF4-FFF2-40B4-BE49-F238E27FC236}">
                <a16:creationId xmlns:a16="http://schemas.microsoft.com/office/drawing/2014/main" id="{4CDC151C-A250-4987-BCA3-C4CD4E4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1. 접근할 것인가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2. ZOC 안에 남을 것인가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3F5363"/>
                </a:solidFill>
                <a:latin typeface="Noto Sans KR"/>
                <a:ea typeface="Noto Sans KR"/>
                <a:cs typeface="Noto Sans KR"/>
              </a:rPr>
              <a:t>3. 반응 공격을 감수하고 빠질 것인가</a:t>
            </a:r>
          </a:p>
        </p:txBody>
      </p:sp>
      <p:sp>
        <p:nvSpPr>
          <p:cNvPr id="227" name="Google Shape;227;p9">
            <a:extLst xmlns:a="http://schemas.openxmlformats.org/drawingml/2006/main">
              <a:ext uri="{FF2B5EF4-FFF2-40B4-BE49-F238E27FC236}">
                <a16:creationId xmlns:a16="http://schemas.microsoft.com/office/drawing/2014/main" id="{30C2CA65-4E09-4DDD-A869-E4A583B2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9149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9">
            <a:extLst xmlns:a="http://schemas.openxmlformats.org/drawingml/2006/main">
              <a:ext uri="{FF2B5EF4-FFF2-40B4-BE49-F238E27FC236}">
                <a16:creationId xmlns:a16="http://schemas.microsoft.com/office/drawing/2014/main" id="{754C67F3-D60D-4A2B-BF0D-AF50E4BF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ZOC 압박</a:t>
            </a:r>
          </a:p>
        </p:txBody>
      </p:sp>
      <p:sp>
        <p:nvSp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90C685BF-90B6-4944-AAAA-B8937D0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9">
            <a:extLst xmlns:a="http://schemas.openxmlformats.org/drawingml/2006/main">
              <a:ext uri="{FF2B5EF4-FFF2-40B4-BE49-F238E27FC236}">
                <a16:creationId xmlns:a16="http://schemas.microsoft.com/office/drawing/2014/main" id="{5D7E0D65-B596-4FAE-BA47-244803B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D73B919E-C0B8-4F44-859C-8BADCFF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5F3634F8-28A2-4144-8F0A-17EF73C7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3" name="Google Shape;233;p9">
            <a:extLst xmlns:a="http://schemas.openxmlformats.org/drawingml/2006/main">
              <a:ext uri="{FF2B5EF4-FFF2-40B4-BE49-F238E27FC236}">
                <a16:creationId xmlns:a16="http://schemas.microsoft.com/office/drawing/2014/main" id="{04D8C4A5-7532-4F7B-9C71-36E4D0D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4" name="Google Shape;234;p9">
            <a:extLst xmlns:a="http://schemas.openxmlformats.org/drawingml/2006/main">
              <a:ext uri="{FF2B5EF4-FFF2-40B4-BE49-F238E27FC236}">
                <a16:creationId xmlns:a16="http://schemas.microsoft.com/office/drawing/2014/main" id="{B675A037-0F1E-4395-8010-18113197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5" name="Google Shape;235;p9">
            <a:extLst xmlns:a="http://schemas.openxmlformats.org/drawingml/2006/main">
              <a:ext uri="{FF2B5EF4-FFF2-40B4-BE49-F238E27FC236}">
                <a16:creationId xmlns:a16="http://schemas.microsoft.com/office/drawing/2014/main" id="{F16CB5FA-BB0F-47AB-8A39-526ABF5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9">
            <a:extLst xmlns:a="http://schemas.openxmlformats.org/drawingml/2006/main">
              <a:ext uri="{FF2B5EF4-FFF2-40B4-BE49-F238E27FC236}">
                <a16:creationId xmlns:a16="http://schemas.microsoft.com/office/drawing/2014/main" id="{73F2D234-8779-44AD-A240-FD04395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7" name="Google Shape;237;p9">
            <a:extLst xmlns:a="http://schemas.openxmlformats.org/drawingml/2006/main">
              <a:ext uri="{FF2B5EF4-FFF2-40B4-BE49-F238E27FC236}">
                <a16:creationId xmlns:a16="http://schemas.microsoft.com/office/drawing/2014/main" id="{437A0025-0874-46BF-9A06-78A6745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9">
            <a:extLst xmlns:a="http://schemas.openxmlformats.org/drawingml/2006/main">
              <a:ext uri="{FF2B5EF4-FFF2-40B4-BE49-F238E27FC236}">
                <a16:creationId xmlns:a16="http://schemas.microsoft.com/office/drawing/2014/main" id="{222F2BE3-AE78-49A0-9417-1FF9A82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9" name="Google Shape;239;p9">
            <a:extLst xmlns:a="http://schemas.openxmlformats.org/drawingml/2006/main">
              <a:ext uri="{FF2B5EF4-FFF2-40B4-BE49-F238E27FC236}">
                <a16:creationId xmlns:a16="http://schemas.microsoft.com/office/drawing/2014/main" id="{6B5D32E6-32BB-414B-82AD-78DE956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0" name="Google Shape;240;p9">
            <a:extLst xmlns:a="http://schemas.openxmlformats.org/drawingml/2006/main">
              <a:ext uri="{FF2B5EF4-FFF2-40B4-BE49-F238E27FC236}">
                <a16:creationId xmlns:a16="http://schemas.microsoft.com/office/drawing/2014/main" id="{EC4928C9-9E41-43C2-A36C-9C49801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1" name="Google Shape;241;p9">
            <a:extLst xmlns:a="http://schemas.openxmlformats.org/drawingml/2006/main">
              <a:ext uri="{FF2B5EF4-FFF2-40B4-BE49-F238E27FC236}">
                <a16:creationId xmlns:a16="http://schemas.microsoft.com/office/drawing/2014/main" id="{E67F5EC2-9135-41C5-BF3D-BBE1C86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9">
            <a:extLst xmlns:a="http://schemas.openxmlformats.org/drawingml/2006/main">
              <a:ext uri="{FF2B5EF4-FFF2-40B4-BE49-F238E27FC236}">
                <a16:creationId xmlns:a16="http://schemas.microsoft.com/office/drawing/2014/main" id="{552A7850-444E-49BD-92C2-261E9D8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" name="Google Shape;243;p9">
            <a:extLst xmlns:a="http://schemas.openxmlformats.org/drawingml/2006/main">
              <a:ext uri="{FF2B5EF4-FFF2-40B4-BE49-F238E27FC236}">
                <a16:creationId xmlns:a16="http://schemas.microsoft.com/office/drawing/2014/main" id="{A36B9010-E7F6-47F3-B741-58E2B57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DF0"/>
          </a:solidFill>
          <a:ln xmlns:a="http://schemas.openxmlformats.org/drawingml/2006/main" w="9525" cmpd="sng">
            <a:solidFill>
              <a:srgbClr val="CBD7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4" name="Google Shape;244;p9">
            <a:extLst xmlns:a="http://schemas.openxmlformats.org/drawingml/2006/main">
              <a:ext uri="{FF2B5EF4-FFF2-40B4-BE49-F238E27FC236}">
                <a16:creationId xmlns:a16="http://schemas.microsoft.com/office/drawing/2014/main" id="{134444F7-883E-484C-B7AA-0E05EEB6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9">
            <a:extLst xmlns:a="http://schemas.openxmlformats.org/drawingml/2006/main">
              <a:ext uri="{FF2B5EF4-FFF2-40B4-BE49-F238E27FC236}">
                <a16:creationId xmlns:a16="http://schemas.microsoft.com/office/drawing/2014/main" id="{A5FF9C95-EB0B-4BD5-8B7F-1193A4C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2칸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246" name="Google Shape;246;p9">
            <a:extLst xmlns:a="http://schemas.openxmlformats.org/drawingml/2006/main">
              <a:ext uri="{FF2B5EF4-FFF2-40B4-BE49-F238E27FC236}">
                <a16:creationId xmlns:a16="http://schemas.microsoft.com/office/drawing/2014/main" id="{8BEE5BA6-ECFC-4162-814A-F4358B4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Alen Spear / 2칸 공격 범위 + 2칸 ZOC</a:t>
            </a:r>
          </a:p>
        </p:txBody>
      </p:sp>
      <p:sp>
        <p:nvSpPr>
          <p:cNvPr id="247" name="Google Shape;247;p9">
            <a:extLst xmlns:a="http://schemas.openxmlformats.org/drawingml/2006/main">
              <a:ext uri="{FF2B5EF4-FFF2-40B4-BE49-F238E27FC236}">
                <a16:creationId xmlns:a16="http://schemas.microsoft.com/office/drawing/2014/main" id="{9690F191-48C1-4121-9547-CAB5EEA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0399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10">
            <a:extLst xmlns:a="http://schemas.openxmlformats.org/drawingml/2006/main">
              <a:ext uri="{FF2B5EF4-FFF2-40B4-BE49-F238E27FC236}">
                <a16:creationId xmlns:a16="http://schemas.microsoft.com/office/drawing/2014/main" id="{A44E37C1-E5A2-4AC4-A350-4EA1B2B5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09 / BATTLE EVIDENCE</a:t>
            </a:r>
          </a:p>
        </p:txBody>
      </p:sp>
      <p:sp>
        <p:nvSpPr>
          <p:cNvPr id="254" name="Google Shape;254;p10">
            <a:extLst xmlns:a="http://schemas.openxmlformats.org/drawingml/2006/main">
              <a:ext uri="{FF2B5EF4-FFF2-40B4-BE49-F238E27FC236}">
                <a16:creationId xmlns:a16="http://schemas.microsoft.com/office/drawing/2014/main" id="{13C1453C-C10E-4E7E-85D7-53A7196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헥스 전장은 실제 턴 상태와 유닛 상태를 함께 보여 줍니다.</a:t>
            </a:r>
          </a:p>
        </p:txBody>
      </p:sp>
      <p:sp>
        <p:nvSpPr>
          <p:cNvPr id="255" name="Google Shape;255;p10">
            <a:extLst xmlns:a="http://schemas.openxmlformats.org/drawingml/2006/main">
              <a:ext uri="{FF2B5EF4-FFF2-40B4-BE49-F238E27FC236}">
                <a16:creationId xmlns:a16="http://schemas.microsoft.com/office/drawing/2014/main" id="{C2E8B0E7-058D-4630-B0A5-D845DCB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전술 규칙은 설계 문서에만 머무르지 않고, 전투 화면의 위치·턴·체력 변화로 확인할 수 있어야 합니다.</a:t>
            </a:r>
          </a:p>
        </p:txBody>
      </p:sp>
      <p:pic>
        <p:nvPicPr>
          <p:cNvPr id="271" name="Google Shape;25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eebee78fec4143">
            <a:alphaModFix/>
          </a:blip>
          <a:srcRect xmlns:a="http://schemas.openxmlformats.org/drawingml/2006/main" l="943" t="0" r="943" b="0"/>
          <a:stretch xmlns:a="http://schemas.openxmlformats.org/drawingml/2006/main"/>
        </p:blipFill>
        <p:spPr>
          <a:xfrm xmlns:a="http://schemas.openxmlformats.org/drawingml/2006/main">
            <a:off x="685800" y="2333625"/>
            <a:ext cx="4019550" cy="4019550"/>
          </a:xfrm>
          <a:prstGeom xmlns:a="http://schemas.openxmlformats.org/drawingml/2006/main" prst="roundRect">
            <a:avLst>
              <a:gd name="adj" fmla="val 2844"/>
            </a:avLst>
          </a:prstGeom>
          <a:ln xmlns:a="http://schemas.openxmlformats.org/drawingml/2006/main">
            <a:noFill/>
          </a:ln>
        </p:spPr>
      </p:pic>
      <p:sp>
        <p:nvSpPr>
          <p:cNvPr id="257" name="Google Shape;257;p10">
            <a:extLst xmlns:a="http://schemas.openxmlformats.org/drawingml/2006/main">
              <a:ext uri="{FF2B5EF4-FFF2-40B4-BE49-F238E27FC236}">
                <a16:creationId xmlns:a16="http://schemas.microsoft.com/office/drawing/2014/main" id="{716F72DD-AA0B-4F36-A686-7841CC7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10">
            <a:extLst xmlns:a="http://schemas.openxmlformats.org/drawingml/2006/main">
              <a:ext uri="{FF2B5EF4-FFF2-40B4-BE49-F238E27FC236}">
                <a16:creationId xmlns:a16="http://schemas.microsoft.com/office/drawing/2014/main" id="{D160E992-6456-446E-8331-3B6E46C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7652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전장 단위</a:t>
            </a:r>
          </a:p>
        </p:txBody>
      </p:sp>
      <p:sp>
        <p:nvSpPr>
          <p:cNvPr id="259" name="Google Shape;259;p10">
            <a:extLst xmlns:a="http://schemas.openxmlformats.org/drawingml/2006/main">
              <a:ext uri="{FF2B5EF4-FFF2-40B4-BE49-F238E27FC236}">
                <a16:creationId xmlns:a16="http://schemas.microsoft.com/office/drawing/2014/main" id="{06A89FF0-256F-4245-9913-C4F284A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43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헥스 타일 위의 유닛 위치와 인접 관계</a:t>
            </a:r>
          </a:p>
        </p:txBody>
      </p:sp>
      <p:sp>
        <p:nvSpPr>
          <p:cNvPr id="260" name="Google Shape;260;p10">
            <a:extLst xmlns:a="http://schemas.openxmlformats.org/drawingml/2006/main">
              <a:ext uri="{FF2B5EF4-FFF2-40B4-BE49-F238E27FC236}">
                <a16:creationId xmlns:a16="http://schemas.microsoft.com/office/drawing/2014/main" id="{DD9C7664-507E-4A5A-94D2-1BC6A8D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67125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10">
            <a:extLst xmlns:a="http://schemas.openxmlformats.org/drawingml/2006/main">
              <a:ext uri="{FF2B5EF4-FFF2-40B4-BE49-F238E27FC236}">
                <a16:creationId xmlns:a16="http://schemas.microsoft.com/office/drawing/2014/main" id="{0BF1E4DD-A09A-4C2D-9994-79B723B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전투 상태</a:t>
            </a:r>
          </a:p>
        </p:txBody>
      </p:sp>
      <p:sp>
        <p:nvSpPr>
          <p:cNvPr id="262" name="Google Shape;262;p10">
            <a:extLst xmlns:a="http://schemas.openxmlformats.org/drawingml/2006/main">
              <a:ext uri="{FF2B5EF4-FFF2-40B4-BE49-F238E27FC236}">
                <a16:creationId xmlns:a16="http://schemas.microsoft.com/office/drawing/2014/main" id="{371AA725-FE2A-461B-B0E7-C0850252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턴 진행과 체력 변화가 전투 결과로 반영</a:t>
            </a:r>
          </a:p>
        </p:txBody>
      </p:sp>
      <p:sp>
        <p:nvSpPr>
          <p:cNvPr id="263" name="Google Shape;263;p10">
            <a:extLst xmlns:a="http://schemas.openxmlformats.org/drawingml/2006/main">
              <a:ext uri="{FF2B5EF4-FFF2-40B4-BE49-F238E27FC236}">
                <a16:creationId xmlns:a16="http://schemas.microsoft.com/office/drawing/2014/main" id="{894BFB0F-7BF2-4BA4-8109-F75F9590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3870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4" name="Google Shape;264;p10">
            <a:extLst xmlns:a="http://schemas.openxmlformats.org/drawingml/2006/main">
              <a:ext uri="{FF2B5EF4-FFF2-40B4-BE49-F238E27FC236}">
                <a16:creationId xmlns:a16="http://schemas.microsoft.com/office/drawing/2014/main" id="{3A471B4C-C5B2-407D-A4D3-130A237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9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02D49"/>
                </a:solidFill>
                <a:latin typeface="Noto Sans KR"/>
                <a:ea typeface="Noto Sans KR"/>
                <a:cs typeface="Noto Sans KR"/>
              </a:rPr>
              <a:t>설계 의미</a:t>
            </a:r>
          </a:p>
        </p:txBody>
      </p:sp>
      <p:sp>
        <p:nvSpPr>
          <p:cNvPr id="265" name="Google Shape;265;p10">
            <a:extLst xmlns:a="http://schemas.openxmlformats.org/drawingml/2006/main">
              <a:ext uri="{FF2B5EF4-FFF2-40B4-BE49-F238E27FC236}">
                <a16:creationId xmlns:a16="http://schemas.microsoft.com/office/drawing/2014/main" id="{C912F72C-5672-4D8D-93C3-A8751CB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위치·거리·이탈 비용을 플레이어가 읽는 전투 화면</a:t>
            </a:r>
          </a:p>
        </p:txBody>
      </p:sp>
      <p:sp>
        <p:nvSpPr>
          <p:cNvPr id="266" name="Google Shape;266;p10">
            <a:extLst xmlns:a="http://schemas.openxmlformats.org/drawingml/2006/main">
              <a:ext uri="{FF2B5EF4-FFF2-40B4-BE49-F238E27FC236}">
                <a16:creationId xmlns:a16="http://schemas.microsoft.com/office/drawing/2014/main" id="{B1FC859E-B6ED-4CBD-9E36-03C7689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2123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11">
            <a:extLst xmlns:a="http://schemas.openxmlformats.org/drawingml/2006/main">
              <a:ext uri="{FF2B5EF4-FFF2-40B4-BE49-F238E27FC236}">
                <a16:creationId xmlns:a16="http://schemas.microsoft.com/office/drawing/2014/main" id="{0CF4FC6F-E356-45C1-95C8-67C33908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10 / MAP DATA &amp; AXIAL VALIDATION</a:t>
            </a:r>
          </a:p>
        </p:txBody>
      </p:sp>
      <p:sp>
        <p:nvSpPr>
          <p:cNvPr id="273" name="Google Shape;273;p11">
            <a:extLst xmlns:a="http://schemas.openxmlformats.org/drawingml/2006/main">
              <a:ext uri="{FF2B5EF4-FFF2-40B4-BE49-F238E27FC236}">
                <a16:creationId xmlns:a16="http://schemas.microsoft.com/office/drawing/2014/main" id="{D54384D4-D8BC-4B1F-822B-23BF3FA2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필드와 전투 맵 모두 JSON을 서버가 직접 읽습니다.</a:t>
            </a:r>
          </a:p>
        </p:txBody>
      </p:sp>
      <p:sp>
        <p:nvSpPr>
          <p:cNvPr id="274" name="Google Shape;274;p11">
            <a:extLst xmlns:a="http://schemas.openxmlformats.org/drawingml/2006/main">
              <a:ext uri="{FF2B5EF4-FFF2-40B4-BE49-F238E27FC236}">
                <a16:creationId xmlns:a16="http://schemas.microsoft.com/office/drawing/2014/main" id="{109D3839-ED0F-4AF4-BAD4-088D49A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Unity에서 내보낸 walkmap의 유효 셀을 서버가 로드하고, 각 맵의 목적에 맞는 이동·경계 규칙을 확정합니다.</a:t>
            </a:r>
          </a:p>
        </p:txBody>
      </p:sp>
      <p:sp>
        <p:nvSpPr>
          <p:cNvPr id="275" name="Google Shape;275;p11">
            <a:extLst xmlns:a="http://schemas.openxmlformats.org/drawingml/2006/main">
              <a:ext uri="{FF2B5EF4-FFF2-40B4-BE49-F238E27FC236}">
                <a16:creationId xmlns:a16="http://schemas.microsoft.com/office/drawing/2014/main" id="{05FD1093-92D0-42D6-883A-5BFDCE6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0673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6" name="Google Shape;276;p11">
            <a:extLst xmlns:a="http://schemas.openxmlformats.org/drawingml/2006/main">
              <a:ext uri="{FF2B5EF4-FFF2-40B4-BE49-F238E27FC236}">
                <a16:creationId xmlns:a16="http://schemas.microsoft.com/office/drawing/2014/main" id="{2D50E14B-1964-42C5-8B60-259603D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FIELD MAP</a:t>
            </a:r>
          </a:p>
        </p:txBody>
      </p:sp>
      <p:sp>
        <p:nvSpPr>
          <p:cNvPr id="277" name="Google Shape;277;p11">
            <a:extLst xmlns:a="http://schemas.openxmlformats.org/drawingml/2006/main">
              <a:ext uri="{FF2B5EF4-FFF2-40B4-BE49-F238E27FC236}">
                <a16:creationId xmlns:a16="http://schemas.microsoft.com/office/drawing/2014/main" id="{FC7AF80B-1303-47DA-B6CE-5F252CD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Field_001.walkmap.json</a:t>
            </a:r>
          </a:p>
        </p:txBody>
      </p:sp>
      <p:sp>
        <p:nvSpPr>
          <p:cNvPr id="278" name="Google Shape;278;p11">
            <a:extLst xmlns:a="http://schemas.openxmlformats.org/drawingml/2006/main">
              <a:ext uri="{FF2B5EF4-FFF2-40B4-BE49-F238E27FC236}">
                <a16:creationId xmlns:a16="http://schemas.microsoft.com/office/drawing/2014/main" id="{1D41B400-066F-4E7D-8050-BB037C8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FieldWalkMapData가 서버에서 직접 로드</a:t>
            </a:r>
          </a:p>
        </p:txBody>
      </p:sp>
      <p:sp>
        <p:nvSpPr>
          <p:cNvPr id="279" name="Google Shape;279;p11">
            <a:extLst xmlns:a="http://schemas.openxmlformats.org/drawingml/2006/main">
              <a:ext uri="{FF2B5EF4-FFF2-40B4-BE49-F238E27FC236}">
                <a16:creationId xmlns:a16="http://schemas.microsoft.com/office/drawing/2014/main" id="{3F7F7F11-2A5D-43C4-8AF6-CFCFC0E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walkable 검사로 필드 이동 가능 여부 판정</a:t>
            </a:r>
          </a:p>
        </p:txBody>
      </p:sp>
      <p:sp>
        <p:nvSpPr>
          <p:cNvPr id="280" name="Google Shape;280;p11">
            <a:extLst xmlns:a="http://schemas.openxmlformats.org/drawingml/2006/main">
              <a:ext uri="{FF2B5EF4-FFF2-40B4-BE49-F238E27FC236}">
                <a16:creationId xmlns:a16="http://schemas.microsoft.com/office/drawing/2014/main" id="{E603D0C7-34BA-47F7-97D9-0888D7F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50673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1" name="Google Shape;281;p11">
            <a:extLst xmlns:a="http://schemas.openxmlformats.org/drawingml/2006/main">
              <a:ext uri="{FF2B5EF4-FFF2-40B4-BE49-F238E27FC236}">
                <a16:creationId xmlns:a16="http://schemas.microsoft.com/office/drawing/2014/main" id="{9B9F431B-F79C-4E50-8DAB-68C47C4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81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BATTLE MAP</a:t>
            </a:r>
          </a:p>
        </p:txBody>
      </p:sp>
      <p:sp>
        <p:nvSpPr>
          <p:cNvPr id="282" name="Google Shape;282;p11">
            <a:extLst xmlns:a="http://schemas.openxmlformats.org/drawingml/2006/main">
              <a:ext uri="{FF2B5EF4-FFF2-40B4-BE49-F238E27FC236}">
                <a16:creationId xmlns:a16="http://schemas.microsoft.com/office/drawing/2014/main" id="{43819375-1372-4D54-A377-789BD88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623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BattleField_001.walkmap.json</a:t>
            </a:r>
          </a:p>
        </p:txBody>
      </p:sp>
      <p:sp>
        <p:nvSpPr>
          <p:cNvPr id="283" name="Google Shape;283;p11">
            <a:extLst xmlns:a="http://schemas.openxmlformats.org/drawingml/2006/main">
              <a:ext uri="{FF2B5EF4-FFF2-40B4-BE49-F238E27FC236}">
                <a16:creationId xmlns:a16="http://schemas.microsoft.com/office/drawing/2014/main" id="{D02C49D0-906E-4409-A72D-26D134BB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814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BattleMapData가 Unity Cell → axial(q, r) 변환</a:t>
            </a:r>
          </a:p>
        </p:txBody>
      </p:sp>
      <p:sp>
        <p:nvSpPr>
          <p:cNvPr id="284" name="Google Shape;284;p11">
            <a:extLst xmlns:a="http://schemas.openxmlformats.org/drawingml/2006/main">
              <a:ext uri="{FF2B5EF4-FFF2-40B4-BE49-F238E27FC236}">
                <a16:creationId xmlns:a16="http://schemas.microsoft.com/office/drawing/2014/main" id="{1F17B0A5-D7C3-401B-8901-CB6DF84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이동·사거리·밀치기·타일 초기화의 경계 판정</a:t>
            </a:r>
          </a:p>
        </p:txBody>
      </p:sp>
      <p:sp>
        <p:nvSpPr>
          <p:cNvPr id="285" name="Google Shape;285;p11">
            <a:extLst xmlns:a="http://schemas.openxmlformats.org/drawingml/2006/main">
              <a:ext uri="{FF2B5EF4-FFF2-40B4-BE49-F238E27FC236}">
                <a16:creationId xmlns:a16="http://schemas.microsoft.com/office/drawing/2014/main" id="{4A46FFC2-A5C2-4AE4-926B-CE4621F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전장의 유효 타일 배치와 서버 판정이 같은 JSON 원본에서 출발하도록 구성했습니다.</a:t>
            </a:r>
          </a:p>
        </p:txBody>
      </p:sp>
      <p:sp>
        <p:nvSpPr>
          <p:cNvPr id="286" name="Google Shape;286;p11">
            <a:extLst xmlns:a="http://schemas.openxmlformats.org/drawingml/2006/main">
              <a:ext uri="{FF2B5EF4-FFF2-40B4-BE49-F238E27FC236}">
                <a16:creationId xmlns:a16="http://schemas.microsoft.com/office/drawing/2014/main" id="{6138F5A6-158B-4AF1-B0CB-0FF84D5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4142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2" name="Google Shape;292;p12">
            <a:extLst xmlns:a="http://schemas.openxmlformats.org/drawingml/2006/main">
              <a:ext uri="{FF2B5EF4-FFF2-40B4-BE49-F238E27FC236}">
                <a16:creationId xmlns:a16="http://schemas.microsoft.com/office/drawing/2014/main" id="{E57CF6A8-4F1D-484A-B8F2-EA054E2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10.1 / MAP AUTHORING &amp; EXPORT</a:t>
            </a:r>
          </a:p>
        </p:txBody>
      </p:sp>
      <p:sp>
        <p:nvSpPr>
          <p:cNvPr id="293" name="Google Shape;293;p12">
            <a:extLst xmlns:a="http://schemas.openxmlformats.org/drawingml/2006/main">
              <a:ext uri="{FF2B5EF4-FFF2-40B4-BE49-F238E27FC236}">
                <a16:creationId xmlns:a16="http://schemas.microsoft.com/office/drawing/2014/main" id="{EAEBA0BE-1E49-461F-8B94-B77E87B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맵의 표현은 프리팹에, 판정은 압축된 JSON에 맡겼습니다.</a:t>
            </a:r>
          </a:p>
        </p:txBody>
      </p:sp>
      <p:sp>
        <p:nvSpPr>
          <p:cNvPr id="294" name="Google Shape;294;p12">
            <a:extLst xmlns:a="http://schemas.openxmlformats.org/drawingml/2006/main">
              <a:ext uri="{FF2B5EF4-FFF2-40B4-BE49-F238E27FC236}">
                <a16:creationId xmlns:a16="http://schemas.microsoft.com/office/drawing/2014/main" id="{C3897F6F-B4B7-4FF9-98F1-A51DF8D1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지형과 오브젝트를 Unity Tilemap으로 제작한 뒤, 이동 가능한 셀만 walkable_ranges로 내보내 서버가 공통 규칙으로 사용합니다.</a:t>
            </a:r>
          </a:p>
        </p:txBody>
      </p:sp>
      <p:sp>
        <p:nvSpPr>
          <p:cNvPr id="295" name="Google Shape;295;p12">
            <a:extLst xmlns:a="http://schemas.openxmlformats.org/drawingml/2006/main">
              <a:ext uri="{FF2B5EF4-FFF2-40B4-BE49-F238E27FC236}">
                <a16:creationId xmlns:a16="http://schemas.microsoft.com/office/drawing/2014/main" id="{56E90CAE-9BDF-4755-9D4A-76B0784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AUTHORED BATTLE MAP</a:t>
            </a:r>
          </a:p>
        </p:txBody>
      </p:sp>
      <p:sp>
        <p:nvSpPr>
          <p:cNvPr id="296" name="Google Shape;296;p12">
            <a:extLst xmlns:a="http://schemas.openxmlformats.org/drawingml/2006/main">
              <a:ext uri="{FF2B5EF4-FFF2-40B4-BE49-F238E27FC236}">
                <a16:creationId xmlns:a16="http://schemas.microsoft.com/office/drawing/2014/main" id="{EADDDCD3-156B-4339-9250-87CFBA1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WALK MAP EXPORTER</a:t>
            </a:r>
          </a:p>
        </p:txBody>
      </p:sp>
      <p:pic>
        <p:nvPicPr>
          <p:cNvPr id="317" name="Google Shape;29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f1e9c1019a4069">
            <a:alphaModFix/>
          </a:blip>
          <a:srcRect xmlns:a="http://schemas.openxmlformats.org/drawingml/2006/main" l="7259" t="0" r="7259" b="0"/>
          <a:stretch xmlns:a="http://schemas.openxmlformats.org/drawingml/2006/main"/>
        </p:blipFill>
        <p:spPr>
          <a:xfrm xmlns:a="http://schemas.openxmlformats.org/drawingml/2006/main">
            <a:off x="685800" y="2476500"/>
            <a:ext cx="5619750" cy="3124200"/>
          </a:xfrm>
          <a:prstGeom xmlns:a="http://schemas.openxmlformats.org/drawingml/2006/main" prst="roundRect">
            <a:avLst>
              <a:gd name="adj" fmla="val 3659"/>
            </a:avLst>
          </a:prstGeom>
          <a:ln xmlns:a="http://schemas.openxmlformats.org/drawingml/2006/main">
            <a:noFill/>
          </a:ln>
        </p:spPr>
      </p:pic>
      <p:pic>
        <p:nvPicPr>
          <p:cNvPr id="318" name="Google Shape;29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531f1e466641c1">
            <a:alphaModFix/>
          </a:blip>
          <a:srcRect xmlns:a="http://schemas.openxmlformats.org/drawingml/2006/main" l="1866" t="0" r="1866" b="0"/>
          <a:stretch xmlns:a="http://schemas.openxmlformats.org/drawingml/2006/main"/>
        </p:blipFill>
        <p:spPr>
          <a:xfrm xmlns:a="http://schemas.openxmlformats.org/drawingml/2006/main">
            <a:off x="8172450" y="2476500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ln xmlns:a="http://schemas.openxmlformats.org/drawingml/2006/main">
            <a:noFill/>
          </a:ln>
        </p:spPr>
      </p:pic>
      <p:cxnSp>
        <p:nvCxnSpPr>
          <p:cNvPr id="319" name="Google Shape;299;p12"/>
          <p:cNvCxnSpPr/>
          <p:nvPr/>
        </p:nvCxnSpPr>
        <p:spPr>
          <a:xfrm xmlns:a="http://schemas.openxmlformats.org/drawingml/2006/main">
            <a:off x="25908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12">
            <a:extLst xmlns:a="http://schemas.openxmlformats.org/drawingml/2006/main">
              <a:ext uri="{FF2B5EF4-FFF2-40B4-BE49-F238E27FC236}">
                <a16:creationId xmlns:a16="http://schemas.microsoft.com/office/drawing/2014/main" id="{6B0D2D75-4EA1-4881-A34C-244F046F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21" name="Google Shape;301;p12"/>
          <p:cNvCxnSpPr/>
          <p:nvPr/>
        </p:nvCxnSpPr>
        <p:spPr>
          <a:xfrm xmlns:a="http://schemas.openxmlformats.org/drawingml/2006/main">
            <a:off x="48006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p12">
            <a:extLst xmlns:a="http://schemas.openxmlformats.org/drawingml/2006/main">
              <a:ext uri="{FF2B5EF4-FFF2-40B4-BE49-F238E27FC236}">
                <a16:creationId xmlns:a16="http://schemas.microsoft.com/office/drawing/2014/main" id="{EC5EA2EB-832F-4605-A9BA-8E9DEF5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01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23" name="Google Shape;303;p12"/>
          <p:cNvCxnSpPr/>
          <p:nvPr/>
        </p:nvCxnSpPr>
        <p:spPr>
          <a:xfrm xmlns:a="http://schemas.openxmlformats.org/drawingml/2006/main">
            <a:off x="7010400" y="5695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" name="Google Shape;304;p12">
            <a:extLst xmlns:a="http://schemas.openxmlformats.org/drawingml/2006/main">
              <a:ext uri="{FF2B5EF4-FFF2-40B4-BE49-F238E27FC236}">
                <a16:creationId xmlns:a16="http://schemas.microsoft.com/office/drawing/2014/main" id="{2C6115E2-5F28-4CB1-9C92-9DA0E8A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19950" y="56102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2">
            <a:extLst xmlns:a="http://schemas.openxmlformats.org/drawingml/2006/main">
              <a:ext uri="{FF2B5EF4-FFF2-40B4-BE49-F238E27FC236}">
                <a16:creationId xmlns:a16="http://schemas.microsoft.com/office/drawing/2014/main" id="{93F7C6CE-7C0E-4BCF-9F3C-1D222C0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Ground + Block Tilemap</a:t>
            </a:r>
          </a:p>
        </p:txBody>
      </p:sp>
      <p:sp>
        <p:nvSpPr>
          <p:cNvPr id="306" name="Google Shape;306;p12">
            <a:extLst xmlns:a="http://schemas.openxmlformats.org/drawingml/2006/main">
              <a:ext uri="{FF2B5EF4-FFF2-40B4-BE49-F238E27FC236}">
                <a16:creationId xmlns:a16="http://schemas.microsoft.com/office/drawing/2014/main" id="{5309376E-1D71-43D7-9EB8-B6712BA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walkable_ranges JSON</a:t>
            </a:r>
          </a:p>
        </p:txBody>
      </p:sp>
      <p:sp>
        <p:nvSpPr>
          <p:cNvPr id="307" name="Google Shape;307;p12">
            <a:extLst xmlns:a="http://schemas.openxmlformats.org/drawingml/2006/main">
              <a:ext uri="{FF2B5EF4-FFF2-40B4-BE49-F238E27FC236}">
                <a16:creationId xmlns:a16="http://schemas.microsoft.com/office/drawing/2014/main" id="{4FDA137D-E271-491E-A5E5-EA7BBE2D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BattleMapData · axial</a:t>
            </a:r>
          </a:p>
        </p:txBody>
      </p:sp>
      <p:sp>
        <p:nvSpPr>
          <p:cNvPr id="308" name="Google Shape;308;p12">
            <a:extLst xmlns:a="http://schemas.openxmlformats.org/drawingml/2006/main">
              <a:ext uri="{FF2B5EF4-FFF2-40B4-BE49-F238E27FC236}">
                <a16:creationId xmlns:a16="http://schemas.microsoft.com/office/drawing/2014/main" id="{7DFDBEAB-9EEB-4CB0-9D97-EBA965C1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서버 이동·전투 경계 판정</a:t>
            </a:r>
          </a:p>
        </p:txBody>
      </p:sp>
      <p:sp>
        <p:nvSpPr>
          <p:cNvPr id="309" name="Google Shape;309;p12">
            <a:extLst xmlns:a="http://schemas.openxmlformats.org/drawingml/2006/main">
              <a:ext uri="{FF2B5EF4-FFF2-40B4-BE49-F238E27FC236}">
                <a16:creationId xmlns:a16="http://schemas.microsoft.com/office/drawing/2014/main" id="{ED65B159-881F-4CA6-9C4D-B5C2511F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3756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Google Shape;315;p13">
            <a:extLst xmlns:a="http://schemas.openxmlformats.org/drawingml/2006/main">
              <a:ext uri="{FF2B5EF4-FFF2-40B4-BE49-F238E27FC236}">
                <a16:creationId xmlns:a16="http://schemas.microsoft.com/office/drawing/2014/main" id="{0E327D98-C883-46C9-8DA2-04E9B98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10.2 / FIELD MOVEMENT MODEL</a:t>
            </a:r>
          </a:p>
        </p:txBody>
      </p:sp>
      <p:sp>
        <p:nvSpPr>
          <p:cNvPr id="316" name="Google Shape;316;p13">
            <a:extLst xmlns:a="http://schemas.openxmlformats.org/drawingml/2006/main">
              <a:ext uri="{FF2B5EF4-FFF2-40B4-BE49-F238E27FC236}">
                <a16:creationId xmlns:a16="http://schemas.microsoft.com/office/drawing/2014/main" id="{6DE9B855-0E89-462F-AEBD-666D01B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필드맵은 격자를 숨겨 탐험의 흐름을 유지합니다.</a:t>
            </a:r>
          </a:p>
        </p:txBody>
      </p:sp>
      <p:sp>
        <p:nvSpPr>
          <p:cNvPr id="317" name="Google Shape;317;p13">
            <a:extLst xmlns:a="http://schemas.openxmlformats.org/drawingml/2006/main">
              <a:ext uri="{FF2B5EF4-FFF2-40B4-BE49-F238E27FC236}">
                <a16:creationId xmlns:a16="http://schemas.microsoft.com/office/drawing/2014/main" id="{67616379-E9AD-42B4-A2FB-5C553E8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타일은 화면상의 이동 단위가 아니라 서버가 이동 가능 영역을 검증하는 내부 좌표계로 사용합니다.</a:t>
            </a:r>
          </a:p>
        </p:txBody>
      </p:sp>
      <p:sp>
        <p:nvSpPr>
          <p:cNvPr id="318" name="Google Shape;318;p13">
            <a:extLst xmlns:a="http://schemas.openxmlformats.org/drawingml/2006/main">
              <a:ext uri="{FF2B5EF4-FFF2-40B4-BE49-F238E27FC236}">
                <a16:creationId xmlns:a16="http://schemas.microsoft.com/office/drawing/2014/main" id="{148E012E-4B60-46B3-A414-536B274B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FIELD PRESENTATION</a:t>
            </a:r>
          </a:p>
        </p:txBody>
      </p:sp>
      <p:sp>
        <p:nvSpPr>
          <p:cNvPr id="319" name="Google Shape;319;p13">
            <a:extLst xmlns:a="http://schemas.openxmlformats.org/drawingml/2006/main">
              <a:ext uri="{FF2B5EF4-FFF2-40B4-BE49-F238E27FC236}">
                <a16:creationId xmlns:a16="http://schemas.microsoft.com/office/drawing/2014/main" id="{EC4F8E61-C235-4FDE-9842-68328630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SERVER WALKMAP DATA</a:t>
            </a:r>
          </a:p>
        </p:txBody>
      </p:sp>
      <p:pic>
        <p:nvPicPr>
          <p:cNvPr id="338" name="Google Shape;32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e1587c62e64fc4">
            <a:alphaModFix/>
          </a:blip>
          <a:srcRect xmlns:a="http://schemas.openxmlformats.org/drawingml/2006/main" l="0" t="23" r="0" b="23"/>
          <a:stretch xmlns:a="http://schemas.openxmlformats.org/drawingml/2006/main"/>
        </p:blipFill>
        <p:spPr>
          <a:xfrm xmlns:a="http://schemas.openxmlformats.org/drawingml/2006/main">
            <a:off x="685800" y="2400300"/>
            <a:ext cx="5429250" cy="3667125"/>
          </a:xfrm>
          <a:prstGeom xmlns:a="http://schemas.openxmlformats.org/drawingml/2006/main" prst="roundRect">
            <a:avLst>
              <a:gd name="adj" fmla="val 3117"/>
            </a:avLst>
          </a:prstGeom>
          <a:ln xmlns:a="http://schemas.openxmlformats.org/drawingml/2006/main">
            <a:noFill/>
          </a:ln>
        </p:spPr>
      </p:pic>
      <p:sp>
        <p:nvSpPr>
          <p:cNvPr id="321" name="Google Shape;321;p13">
            <a:extLst xmlns:a="http://schemas.openxmlformats.org/drawingml/2006/main">
              <a:ext uri="{FF2B5EF4-FFF2-40B4-BE49-F238E27FC236}">
                <a16:creationId xmlns:a16="http://schemas.microsoft.com/office/drawing/2014/main" id="{7A3E18ED-6B9D-4135-A62D-C5022C0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581150" cy="366712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0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3">
            <a:extLst xmlns:a="http://schemas.openxmlformats.org/drawingml/2006/main">
              <a:ext uri="{FF2B5EF4-FFF2-40B4-BE49-F238E27FC236}">
                <a16:creationId xmlns:a16="http://schemas.microsoft.com/office/drawing/2014/main" id="{8495DB87-5051-45AA-8E03-FE143B79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3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WORLD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3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MOVE</a:t>
            </a:r>
          </a:p>
        </p:txBody>
      </p:sp>
      <p:cxnSp>
        <p:nvCxnSpPr>
          <p:cNvPr id="341" name="Google Shape;323;p13"/>
          <p:cNvCxnSpPr/>
          <p:nvPr/>
        </p:nvCxnSpPr>
        <p:spPr>
          <a:xfrm xmlns:a="http://schemas.openxmlformats.org/drawingml/2006/main">
            <a:off x="6800850" y="34480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DE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4" name="Google Shape;324;p13">
            <a:extLst xmlns:a="http://schemas.openxmlformats.org/drawingml/2006/main">
              <a:ext uri="{FF2B5EF4-FFF2-40B4-BE49-F238E27FC236}">
                <a16:creationId xmlns:a16="http://schemas.microsoft.com/office/drawing/2014/main" id="{F35D047D-D444-4E42-9FD5-30CF35A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월드 좌표를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셀 좌표로 환산</a:t>
            </a:r>
          </a:p>
        </p:txBody>
      </p:sp>
      <p:cxnSp>
        <p:nvCxnSpPr>
          <p:cNvPr id="343" name="Google Shape;325;p13"/>
          <p:cNvCxnSpPr/>
          <p:nvPr/>
        </p:nvCxnSpPr>
        <p:spPr>
          <a:xfrm xmlns:a="http://schemas.openxmlformats.org/drawingml/2006/main">
            <a:off x="6800850" y="44958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DE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" name="Google Shape;326;p13">
            <a:extLst xmlns:a="http://schemas.openxmlformats.org/drawingml/2006/main">
              <a:ext uri="{FF2B5EF4-FFF2-40B4-BE49-F238E27FC236}">
                <a16:creationId xmlns:a16="http://schemas.microsoft.com/office/drawing/2014/main" id="{F6B4B383-A70D-4B40-9005-C0CE16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walkable</a:t>
            </a: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범위 검증</a:t>
            </a:r>
          </a:p>
        </p:txBody>
      </p:sp>
      <p:sp>
        <p:nvSpPr>
          <p:cNvPr id="327" name="Google Shape;327;p13">
            <a:extLst xmlns:a="http://schemas.openxmlformats.org/drawingml/2006/main">
              <a:ext uri="{FF2B5EF4-FFF2-40B4-BE49-F238E27FC236}">
                <a16:creationId xmlns:a16="http://schemas.microsoft.com/office/drawing/2014/main" id="{8B7F844D-506C-4854-95F9-88C51A4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3028950" cy="3667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46" name="Google Shape;32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1755158cb9426b">
            <a:alphaModFix/>
          </a:blip>
          <a:srcRect xmlns:a="http://schemas.openxmlformats.org/drawingml/2006/main" l="0" t="29627" r="0" b="29627"/>
          <a:stretch xmlns:a="http://schemas.openxmlformats.org/drawingml/2006/main"/>
        </p:blipFill>
        <p:spPr>
          <a:xfrm xmlns:a="http://schemas.openxmlformats.org/drawingml/2006/main">
            <a:off x="8724900" y="2590800"/>
            <a:ext cx="2533650" cy="3219450"/>
          </a:xfrm>
          <a:prstGeom xmlns:a="http://schemas.openxmlformats.org/drawingml/2006/main" prst="roundRect">
            <a:avLst>
              <a:gd name="adj" fmla="val 4511"/>
            </a:avLst>
          </a:prstGeom>
          <a:ln xmlns:a="http://schemas.openxmlformats.org/drawingml/2006/main">
            <a:noFill/>
          </a:ln>
        </p:spPr>
      </p:pic>
      <p:sp>
        <p:nvSpPr>
          <p:cNvPr id="329" name="Google Shape;329;p13">
            <a:extLst xmlns:a="http://schemas.openxmlformats.org/drawingml/2006/main">
              <a:ext uri="{FF2B5EF4-FFF2-40B4-BE49-F238E27FC236}">
                <a16:creationId xmlns:a16="http://schemas.microsoft.com/office/drawing/2014/main" id="{E0313B37-6878-40CF-9BA7-EB381EC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483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Field_001.walkmap.json</a:t>
            </a:r>
          </a:p>
        </p:txBody>
      </p:sp>
      <p:sp>
        <p:nvSpPr>
          <p:cNvPr id="330" name="Google Shape;330;p13">
            <a:extLst xmlns:a="http://schemas.openxmlformats.org/drawingml/2006/main">
              <a:ext uri="{FF2B5EF4-FFF2-40B4-BE49-F238E27FC236}">
                <a16:creationId xmlns:a16="http://schemas.microsoft.com/office/drawing/2014/main" id="{66F842AB-1064-4C7A-B0D5-B10042D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24692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6" name="Google Shape;336;p14">
            <a:extLst xmlns:a="http://schemas.openxmlformats.org/drawingml/2006/main">
              <a:ext uri="{FF2B5EF4-FFF2-40B4-BE49-F238E27FC236}">
                <a16:creationId xmlns:a16="http://schemas.microsoft.com/office/drawing/2014/main" id="{7DB0A7B5-B76B-4A69-9F36-01CE09A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10.3 / BATTLE MOVEMENT MODEL</a:t>
            </a:r>
          </a:p>
        </p:txBody>
      </p:sp>
      <p:sp>
        <p:nvSpPr>
          <p:cNvPr id="337" name="Google Shape;337;p14">
            <a:extLst xmlns:a="http://schemas.openxmlformats.org/drawingml/2006/main">
              <a:ext uri="{FF2B5EF4-FFF2-40B4-BE49-F238E27FC236}">
                <a16:creationId xmlns:a16="http://schemas.microsoft.com/office/drawing/2014/main" id="{5154FDDD-F012-43FC-9909-73EDD72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전투맵은 타일이 곧 선택과 규칙의 단위가 됩니다.</a:t>
            </a:r>
          </a:p>
        </p:txBody>
      </p:sp>
      <p:sp>
        <p:nvSpPr>
          <p:cNvPr id="338" name="Google Shape;338;p14">
            <a:extLst xmlns:a="http://schemas.openxmlformats.org/drawingml/2006/main">
              <a:ext uri="{FF2B5EF4-FFF2-40B4-BE49-F238E27FC236}">
                <a16:creationId xmlns:a16="http://schemas.microsoft.com/office/drawing/2014/main" id="{7B5CFED7-5FE8-42F7-8018-4DB39CF7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같은 타일 기반 데이터라도, 전투에서는 한 칸의 위치가 이동·거리·ZOC·사거리 판단으로 직접 이어집니다.</a:t>
            </a:r>
          </a:p>
        </p:txBody>
      </p:sp>
      <p:sp>
        <p:nvSpPr>
          <p:cNvPr id="339" name="Google Shape;339;p14">
            <a:extLst xmlns:a="http://schemas.openxmlformats.org/drawingml/2006/main">
              <a:ext uri="{FF2B5EF4-FFF2-40B4-BE49-F238E27FC236}">
                <a16:creationId xmlns:a16="http://schemas.microsoft.com/office/drawing/2014/main" id="{2F7C9DF7-8C62-446C-83C5-E1346A1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SERVER VALID-CELL MASK</a:t>
            </a:r>
          </a:p>
        </p:txBody>
      </p:sp>
      <p:sp>
        <p:nvSpPr>
          <p:cNvPr id="340" name="Google Shape;340;p14">
            <a:extLst xmlns:a="http://schemas.openxmlformats.org/drawingml/2006/main">
              <a:ext uri="{FF2B5EF4-FFF2-40B4-BE49-F238E27FC236}">
                <a16:creationId xmlns:a16="http://schemas.microsoft.com/office/drawing/2014/main" id="{CAECA841-44BC-4786-A50C-936D896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AUTHORED BATTLE PRESENTATION</a:t>
            </a:r>
          </a:p>
        </p:txBody>
      </p:sp>
      <p:pic>
        <p:nvPicPr>
          <p:cNvPr id="355" name="Google Shape;34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011796dc6242bb">
            <a:alphaModFix/>
          </a:blip>
          <a:srcRect xmlns:a="http://schemas.openxmlformats.org/drawingml/2006/main" l="0" t="6722" r="0" b="6722"/>
          <a:stretch xmlns:a="http://schemas.openxmlformats.org/drawingml/2006/main"/>
        </p:blipFill>
        <p:spPr>
          <a:xfrm xmlns:a="http://schemas.openxmlformats.org/drawingml/2006/main">
            <a:off x="685800" y="2400300"/>
            <a:ext cx="5143500" cy="2895600"/>
          </a:xfrm>
          <a:prstGeom xmlns:a="http://schemas.openxmlformats.org/drawingml/2006/main" prst="roundRect">
            <a:avLst>
              <a:gd name="adj" fmla="val 3947"/>
            </a:avLst>
          </a:prstGeom>
          <a:ln xmlns:a="http://schemas.openxmlformats.org/drawingml/2006/main">
            <a:noFill/>
          </a:ln>
        </p:spPr>
      </p:pic>
      <p:pic>
        <p:nvPicPr>
          <p:cNvPr id="356" name="Google Shape;34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41059d949f4a56">
            <a:alphaModFix/>
          </a:blip>
          <a:srcRect xmlns:a="http://schemas.openxmlformats.org/drawingml/2006/main" l="0" t="10325" r="0" b="10325"/>
          <a:stretch xmlns:a="http://schemas.openxmlformats.org/drawingml/2006/main"/>
        </p:blipFill>
        <p:spPr>
          <a:xfrm xmlns:a="http://schemas.openxmlformats.org/drawingml/2006/main">
            <a:off x="6400800" y="2400300"/>
            <a:ext cx="5105400" cy="2895600"/>
          </a:xfrm>
          <a:prstGeom xmlns:a="http://schemas.openxmlformats.org/drawingml/2006/main" prst="roundRect">
            <a:avLst>
              <a:gd name="adj" fmla="val 3947"/>
            </a:avLst>
          </a:prstGeom>
          <a:ln xmlns:a="http://schemas.openxmlformats.org/drawingml/2006/main">
            <a:noFill/>
          </a:ln>
        </p:spPr>
      </p:pic>
      <p:sp>
        <p:nvSpPr>
          <p:cNvPr id="343" name="Google Shape;343;p14">
            <a:extLst xmlns:a="http://schemas.openxmlformats.org/drawingml/2006/main">
              <a:ext uri="{FF2B5EF4-FFF2-40B4-BE49-F238E27FC236}">
                <a16:creationId xmlns:a16="http://schemas.microsoft.com/office/drawing/2014/main" id="{A751D3DC-134D-4282-9E87-7174646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14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14">
            <a:extLst xmlns:a="http://schemas.openxmlformats.org/drawingml/2006/main">
              <a:ext uri="{FF2B5EF4-FFF2-40B4-BE49-F238E27FC236}">
                <a16:creationId xmlns:a16="http://schemas.microsoft.com/office/drawing/2014/main" id="{EE1968CA-B4AE-40B7-A671-9AAF950C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유효한 타일 집합 → 서버가 경계와 행동 가능 여부를 확정</a:t>
            </a:r>
          </a:p>
        </p:txBody>
      </p:sp>
      <p:sp>
        <p:nvSpPr>
          <p:cNvPr id="345" name="Google Shape;345;p14">
            <a:extLst xmlns:a="http://schemas.openxmlformats.org/drawingml/2006/main">
              <a:ext uri="{FF2B5EF4-FFF2-40B4-BE49-F238E27FC236}">
                <a16:creationId xmlns:a16="http://schemas.microsoft.com/office/drawing/2014/main" id="{03091260-A38C-4339-BA7B-6E9647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510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6" name="Google Shape;346;p14">
            <a:extLst xmlns:a="http://schemas.openxmlformats.org/drawingml/2006/main">
              <a:ext uri="{FF2B5EF4-FFF2-40B4-BE49-F238E27FC236}">
                <a16:creationId xmlns:a16="http://schemas.microsoft.com/office/drawing/2014/main" id="{7FC5DCC8-7D90-4DCA-8B4F-88399F22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1500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지형·소품·물은 플레이어가 전장 정보를 읽는 시각적 맥락</a:t>
            </a:r>
          </a:p>
        </p:txBody>
      </p:sp>
      <p:sp>
        <p:nvSpPr>
          <p:cNvPr id="347" name="Google Shape;347;p14">
            <a:extLst xmlns:a="http://schemas.openxmlformats.org/drawingml/2006/main">
              <a:ext uri="{FF2B5EF4-FFF2-40B4-BE49-F238E27FC236}">
                <a16:creationId xmlns:a16="http://schemas.microsoft.com/office/drawing/2014/main" id="{4FDBB9E2-B936-4C5F-8B87-493C7B6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0088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Google Shape;353;p15">
            <a:extLst xmlns:a="http://schemas.openxmlformats.org/drawingml/2006/main">
              <a:ext uri="{FF2B5EF4-FFF2-40B4-BE49-F238E27FC236}">
                <a16:creationId xmlns:a16="http://schemas.microsoft.com/office/drawing/2014/main" id="{6999230A-F0E5-493B-93B8-ED8D744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11 / WHY PVP VERTICAL SLICE</a:t>
            </a:r>
          </a:p>
        </p:txBody>
      </p:sp>
      <p:sp>
        <p:nvSpPr>
          <p:cNvPr id="354" name="Google Shape;354;p15">
            <a:extLst xmlns:a="http://schemas.openxmlformats.org/drawingml/2006/main">
              <a:ext uri="{FF2B5EF4-FFF2-40B4-BE49-F238E27FC236}">
                <a16:creationId xmlns:a16="http://schemas.microsoft.com/office/drawing/2014/main" id="{0068C9E2-789D-43F2-9F49-5BD0424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PvP는 최종 장르 선언이 아니라, 검증 범위였습니다.</a:t>
            </a:r>
          </a:p>
        </p:txBody>
      </p:sp>
      <p:sp>
        <p:nvSpPr>
          <p:cNvPr id="355" name="Google Shape;355;p15">
            <a:extLst xmlns:a="http://schemas.openxmlformats.org/drawingml/2006/main">
              <a:ext uri="{FF2B5EF4-FFF2-40B4-BE49-F238E27FC236}">
                <a16:creationId xmlns:a16="http://schemas.microsoft.com/office/drawing/2014/main" id="{B20D9F0F-0DF5-430A-ADDB-EE020D9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AI와 대량 PvE 콘텐츠에 기대지 않고도 역할 가치와 카운터플레이를 반복 검증하기 위해 선택했습니다.</a:t>
            </a:r>
          </a:p>
        </p:txBody>
      </p:sp>
      <p:sp>
        <p:nvSpPr>
          <p:cNvPr id="356" name="Google Shape;356;p15">
            <a:extLst xmlns:a="http://schemas.openxmlformats.org/drawingml/2006/main">
              <a:ext uri="{FF2B5EF4-FFF2-40B4-BE49-F238E27FC236}">
                <a16:creationId xmlns:a16="http://schemas.microsoft.com/office/drawing/2014/main" id="{F5BC079D-AECD-47CD-A3F6-0D9021B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15">
            <a:extLst xmlns:a="http://schemas.openxmlformats.org/drawingml/2006/main">
              <a:ext uri="{FF2B5EF4-FFF2-40B4-BE49-F238E27FC236}">
                <a16:creationId xmlns:a16="http://schemas.microsoft.com/office/drawing/2014/main" id="{544D354A-69A7-4A3A-80D3-CC49F127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FIELD</a:t>
            </a:r>
          </a:p>
        </p:txBody>
      </p:sp>
      <p:sp>
        <p:nvSpPr>
          <p:cNvPr id="358" name="Google Shape;358;p15">
            <a:extLst xmlns:a="http://schemas.openxmlformats.org/drawingml/2006/main">
              <a:ext uri="{FF2B5EF4-FFF2-40B4-BE49-F238E27FC236}">
                <a16:creationId xmlns:a16="http://schemas.microsoft.com/office/drawing/2014/main" id="{9ECB8A96-3FEF-4424-A080-273D9F55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필드 입장</a:t>
            </a:r>
          </a:p>
        </p:txBody>
      </p:sp>
      <p:cxnSp>
        <p:nvCxnSpPr>
          <p:cNvPr id="383" name="Google Shape;359;p15"/>
          <p:cNvCxnSpPr/>
          <p:nvPr/>
        </p:nvCxnSpPr>
        <p:spPr>
          <a:xfrm xmlns:a="http://schemas.openxmlformats.org/drawingml/2006/main">
            <a:off x="29527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15">
            <a:extLst xmlns:a="http://schemas.openxmlformats.org/drawingml/2006/main">
              <a:ext uri="{FF2B5EF4-FFF2-40B4-BE49-F238E27FC236}">
                <a16:creationId xmlns:a16="http://schemas.microsoft.com/office/drawing/2014/main" id="{191817B9-B056-4821-A113-1DE728F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5">
            <a:extLst xmlns:a="http://schemas.openxmlformats.org/drawingml/2006/main">
              <a:ext uri="{FF2B5EF4-FFF2-40B4-BE49-F238E27FC236}">
                <a16:creationId xmlns:a16="http://schemas.microsoft.com/office/drawing/2014/main" id="{464224DD-6BED-4F2C-92A9-54C55D7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15">
            <a:extLst xmlns:a="http://schemas.openxmlformats.org/drawingml/2006/main">
              <a:ext uri="{FF2B5EF4-FFF2-40B4-BE49-F238E27FC236}">
                <a16:creationId xmlns:a16="http://schemas.microsoft.com/office/drawing/2014/main" id="{CEBAAD23-0A44-4E80-8B0D-4D0B65F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MATCH</a:t>
            </a:r>
          </a:p>
        </p:txBody>
      </p:sp>
      <p:sp>
        <p:nvSpPr>
          <p:cNvPr id="363" name="Google Shape;363;p15">
            <a:extLst xmlns:a="http://schemas.openxmlformats.org/drawingml/2006/main">
              <a:ext uri="{FF2B5EF4-FFF2-40B4-BE49-F238E27FC236}">
                <a16:creationId xmlns:a16="http://schemas.microsoft.com/office/drawing/2014/main" id="{AC69F850-4024-46E4-AE3C-1A3675B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대전 초대</a:t>
            </a:r>
          </a:p>
        </p:txBody>
      </p:sp>
      <p:cxnSp>
        <p:nvCxnSpPr>
          <p:cNvPr id="388" name="Google Shape;364;p15"/>
          <p:cNvCxnSpPr/>
          <p:nvPr/>
        </p:nvCxnSpPr>
        <p:spPr>
          <a:xfrm xmlns:a="http://schemas.openxmlformats.org/drawingml/2006/main">
            <a:off x="56578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" name="Google Shape;365;p15">
            <a:extLst xmlns:a="http://schemas.openxmlformats.org/drawingml/2006/main">
              <a:ext uri="{FF2B5EF4-FFF2-40B4-BE49-F238E27FC236}">
                <a16:creationId xmlns:a16="http://schemas.microsoft.com/office/drawing/2014/main" id="{1E642F96-ABD9-49F2-ABAD-26A53AC6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6" name="Google Shape;366;p15">
            <a:extLst xmlns:a="http://schemas.openxmlformats.org/drawingml/2006/main">
              <a:ext uri="{FF2B5EF4-FFF2-40B4-BE49-F238E27FC236}">
                <a16:creationId xmlns:a16="http://schemas.microsoft.com/office/drawing/2014/main" id="{CA572A40-C9F1-4587-9934-BB442B9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7" name="Google Shape;367;p15">
            <a:extLst xmlns:a="http://schemas.openxmlformats.org/drawingml/2006/main">
              <a:ext uri="{FF2B5EF4-FFF2-40B4-BE49-F238E27FC236}">
                <a16:creationId xmlns:a16="http://schemas.microsoft.com/office/drawing/2014/main" id="{AF948BFF-692D-4FD7-B70E-1BAE1C6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BATTLE</a:t>
            </a:r>
          </a:p>
        </p:txBody>
      </p:sp>
      <p:sp>
        <p:nvSpPr>
          <p:cNvPr id="368" name="Google Shape;368;p15">
            <a:extLst xmlns:a="http://schemas.openxmlformats.org/drawingml/2006/main">
              <a:ext uri="{FF2B5EF4-FFF2-40B4-BE49-F238E27FC236}">
                <a16:creationId xmlns:a16="http://schemas.microsoft.com/office/drawing/2014/main" id="{7115F9D3-B658-4DC0-979A-8A2A624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전술 전투</a:t>
            </a:r>
          </a:p>
        </p:txBody>
      </p:sp>
      <p:cxnSp>
        <p:nvCxnSpPr>
          <p:cNvPr id="393" name="Google Shape;369;p15"/>
          <p:cNvCxnSpPr/>
          <p:nvPr/>
        </p:nvCxnSpPr>
        <p:spPr>
          <a:xfrm xmlns:a="http://schemas.openxmlformats.org/drawingml/2006/main">
            <a:off x="8362950" y="35433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2F0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15">
            <a:extLst xmlns:a="http://schemas.openxmlformats.org/drawingml/2006/main">
              <a:ext uri="{FF2B5EF4-FFF2-40B4-BE49-F238E27FC236}">
                <a16:creationId xmlns:a16="http://schemas.microsoft.com/office/drawing/2014/main" id="{3EBC1B8A-C8E7-4EA5-BAA3-C893E99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45757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2F0E6"/>
          </a:solidFill>
          <a:ln xmlns:a="http://schemas.openxmlformats.org/drawingml/2006/main" w="9525" cmpd="sng">
            <a:solidFill>
              <a:srgbClr val="F2F0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5">
            <a:extLst xmlns:a="http://schemas.openxmlformats.org/drawingml/2006/main">
              <a:ext uri="{FF2B5EF4-FFF2-40B4-BE49-F238E27FC236}">
                <a16:creationId xmlns:a16="http://schemas.microsoft.com/office/drawing/2014/main" id="{D420B8F2-6205-4388-BB11-5114C69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2" name="Google Shape;372;p15">
            <a:extLst xmlns:a="http://schemas.openxmlformats.org/drawingml/2006/main">
              <a:ext uri="{FF2B5EF4-FFF2-40B4-BE49-F238E27FC236}">
                <a16:creationId xmlns:a16="http://schemas.microsoft.com/office/drawing/2014/main" id="{40A16F71-A683-4D4F-9A2B-2ADFD23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373" name="Google Shape;373;p15">
            <a:extLst xmlns:a="http://schemas.openxmlformats.org/drawingml/2006/main">
              <a:ext uri="{FF2B5EF4-FFF2-40B4-BE49-F238E27FC236}">
                <a16:creationId xmlns:a16="http://schemas.microsoft.com/office/drawing/2014/main" id="{11FA0BB7-74F0-4CCA-B656-8A6978A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결과 복귀</a:t>
            </a:r>
          </a:p>
        </p:txBody>
      </p:sp>
      <p:sp>
        <p:nvSpPr>
          <p:cNvPr id="374" name="Google Shape;374;p15">
            <a:extLst xmlns:a="http://schemas.openxmlformats.org/drawingml/2006/main">
              <a:ext uri="{FF2B5EF4-FFF2-40B4-BE49-F238E27FC236}">
                <a16:creationId xmlns:a16="http://schemas.microsoft.com/office/drawing/2014/main" id="{1791A15B-CA3A-416F-B2A6-EF32A22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검증 대상</a:t>
            </a:r>
          </a:p>
        </p:txBody>
      </p:sp>
      <p:sp>
        <p:nvSpPr>
          <p:cNvPr id="375" name="Google Shape;375;p15">
            <a:extLst xmlns:a="http://schemas.openxmlformats.org/drawingml/2006/main">
              <a:ext uri="{FF2B5EF4-FFF2-40B4-BE49-F238E27FC236}">
                <a16:creationId xmlns:a16="http://schemas.microsoft.com/office/drawing/2014/main" id="{57B79BB6-89BB-4C6B-82DF-2878F4C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인간 상대의 경로 선택 · ZOC 압박 · 반응 공격의 위험 인식 · 역할별 생존력</a:t>
            </a:r>
          </a:p>
        </p:txBody>
      </p:sp>
      <p:sp>
        <p:nvSpPr>
          <p:cNvPr id="376" name="Google Shape;376;p15">
            <a:extLst xmlns:a="http://schemas.openxmlformats.org/drawingml/2006/main">
              <a:ext uri="{FF2B5EF4-FFF2-40B4-BE49-F238E27FC236}">
                <a16:creationId xmlns:a16="http://schemas.microsoft.com/office/drawing/2014/main" id="{79798566-4D17-4EFD-84B9-6CC8E340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7540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2" name="Google Shape;382;p16">
            <a:extLst xmlns:a="http://schemas.openxmlformats.org/drawingml/2006/main">
              <a:ext uri="{FF2B5EF4-FFF2-40B4-BE49-F238E27FC236}">
                <a16:creationId xmlns:a16="http://schemas.microsoft.com/office/drawing/2014/main" id="{5CE1E912-014E-44A7-9C54-DFFA1D1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12 / SERVER AUTHORITY</a:t>
            </a:r>
          </a:p>
        </p:txBody>
      </p:sp>
      <p:sp>
        <p:nvSpPr>
          <p:cNvPr id="383" name="Google Shape;383;p16">
            <a:extLst xmlns:a="http://schemas.openxmlformats.org/drawingml/2006/main">
              <a:ext uri="{FF2B5EF4-FFF2-40B4-BE49-F238E27FC236}">
                <a16:creationId xmlns:a16="http://schemas.microsoft.com/office/drawing/2014/main" id="{FCD71A96-BC6A-492D-A094-B99C110A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플레이어는 의도를 보내고, 서버는 결과를 확정합니다.</a:t>
            </a:r>
          </a:p>
        </p:txBody>
      </p:sp>
      <p:sp>
        <p:nvSpPr>
          <p:cNvPr id="384" name="Google Shape;384;p16">
            <a:extLst xmlns:a="http://schemas.openxmlformats.org/drawingml/2006/main">
              <a:ext uri="{FF2B5EF4-FFF2-40B4-BE49-F238E27FC236}">
                <a16:creationId xmlns:a16="http://schemas.microsoft.com/office/drawing/2014/main" id="{29C9EAB8-5BB8-49E0-8C8A-B6C83DF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온라인 전투에서 ‘보이는 결과’와 ‘검증된 결과’가 어긋나지 않도록 설계했습니다.</a:t>
            </a:r>
          </a:p>
        </p:txBody>
      </p:sp>
      <p:sp>
        <p:nvSpPr>
          <p:cNvPr id="385" name="Google Shape;385;p16">
            <a:extLst xmlns:a="http://schemas.openxmlformats.org/drawingml/2006/main">
              <a:ext uri="{FF2B5EF4-FFF2-40B4-BE49-F238E27FC236}">
                <a16:creationId xmlns:a16="http://schemas.microsoft.com/office/drawing/2014/main" id="{723440B7-E8A2-4853-9A06-BE9EFD20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16">
            <a:extLst xmlns:a="http://schemas.openxmlformats.org/drawingml/2006/main">
              <a:ext uri="{FF2B5EF4-FFF2-40B4-BE49-F238E27FC236}">
                <a16:creationId xmlns:a16="http://schemas.microsoft.com/office/drawing/2014/main" id="{5A9584B2-E8D2-4C6D-9DE2-4EEC323F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87" name="Google Shape;387;p16">
            <a:extLst xmlns:a="http://schemas.openxmlformats.org/drawingml/2006/main">
              <a:ext uri="{FF2B5EF4-FFF2-40B4-BE49-F238E27FC236}">
                <a16:creationId xmlns:a16="http://schemas.microsoft.com/office/drawing/2014/main" id="{3020E677-5A48-4838-9778-5E3338D3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Intent</a:t>
            </a:r>
          </a:p>
        </p:txBody>
      </p:sp>
      <p:sp>
        <p:nvSpPr>
          <p:cNvPr id="388" name="Google Shape;388;p16">
            <a:extLst xmlns:a="http://schemas.openxmlformats.org/drawingml/2006/main">
              <a:ext uri="{FF2B5EF4-FFF2-40B4-BE49-F238E27FC236}">
                <a16:creationId xmlns:a16="http://schemas.microsoft.com/office/drawing/2014/main" id="{545875D7-FA18-4AD2-AEE3-B722D23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이동·스킬 입력</a:t>
            </a:r>
          </a:p>
        </p:txBody>
      </p:sp>
      <p:cxnSp>
        <p:nvCxnSpPr>
          <p:cNvPr id="416" name="Google Shape;389;p16"/>
          <p:cNvCxnSpPr/>
          <p:nvPr/>
        </p:nvCxnSpPr>
        <p:spPr>
          <a:xfrm xmlns:a="http://schemas.openxmlformats.org/drawingml/2006/main">
            <a:off x="29527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0" name="Google Shape;390;p16">
            <a:extLst xmlns:a="http://schemas.openxmlformats.org/drawingml/2006/main">
              <a:ext uri="{FF2B5EF4-FFF2-40B4-BE49-F238E27FC236}">
                <a16:creationId xmlns:a16="http://schemas.microsoft.com/office/drawing/2014/main" id="{F91C1013-90FA-4B13-8C8C-61AED0C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1" name="Google Shape;391;p16">
            <a:extLst xmlns:a="http://schemas.openxmlformats.org/drawingml/2006/main">
              <a:ext uri="{FF2B5EF4-FFF2-40B4-BE49-F238E27FC236}">
                <a16:creationId xmlns:a16="http://schemas.microsoft.com/office/drawing/2014/main" id="{3E8BEA19-393D-482D-93D0-6A4EF256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2" name="Google Shape;392;p16">
            <a:extLst xmlns:a="http://schemas.openxmlformats.org/drawingml/2006/main">
              <a:ext uri="{FF2B5EF4-FFF2-40B4-BE49-F238E27FC236}">
                <a16:creationId xmlns:a16="http://schemas.microsoft.com/office/drawing/2014/main" id="{613EDCFB-68D0-46F0-BF61-C3BE3A30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93" name="Google Shape;393;p16">
            <a:extLst xmlns:a="http://schemas.openxmlformats.org/drawingml/2006/main">
              <a:ext uri="{FF2B5EF4-FFF2-40B4-BE49-F238E27FC236}">
                <a16:creationId xmlns:a16="http://schemas.microsoft.com/office/drawing/2014/main" id="{3F126B81-ABB7-446C-8B86-1A723CA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Validate</a:t>
            </a:r>
          </a:p>
        </p:txBody>
      </p:sp>
      <p:sp>
        <p:nvSpPr>
          <p:cNvPr id="394" name="Google Shape;394;p16">
            <a:extLst xmlns:a="http://schemas.openxmlformats.org/drawingml/2006/main">
              <a:ext uri="{FF2B5EF4-FFF2-40B4-BE49-F238E27FC236}">
                <a16:creationId xmlns:a16="http://schemas.microsoft.com/office/drawing/2014/main" id="{14879D29-3404-46E6-97D9-C5B7E30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턴·거리·대상·상태 검증</a:t>
            </a:r>
          </a:p>
        </p:txBody>
      </p:sp>
      <p:cxnSp>
        <p:nvCxnSpPr>
          <p:cNvPr id="422" name="Google Shape;395;p16"/>
          <p:cNvCxnSpPr/>
          <p:nvPr/>
        </p:nvCxnSpPr>
        <p:spPr>
          <a:xfrm xmlns:a="http://schemas.openxmlformats.org/drawingml/2006/main">
            <a:off x="56578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6" name="Google Shape;396;p16">
            <a:extLst xmlns:a="http://schemas.openxmlformats.org/drawingml/2006/main">
              <a:ext uri="{FF2B5EF4-FFF2-40B4-BE49-F238E27FC236}">
                <a16:creationId xmlns:a16="http://schemas.microsoft.com/office/drawing/2014/main" id="{64F2FF81-1789-4CD5-9527-08EEF5E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7" name="Google Shape;397;p16">
            <a:extLst xmlns:a="http://schemas.openxmlformats.org/drawingml/2006/main">
              <a:ext uri="{FF2B5EF4-FFF2-40B4-BE49-F238E27FC236}">
                <a16:creationId xmlns:a16="http://schemas.microsoft.com/office/drawing/2014/main" id="{7B513685-0F0F-4AE1-AC95-2B381E4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8" name="Google Shape;398;p16">
            <a:extLst xmlns:a="http://schemas.openxmlformats.org/drawingml/2006/main">
              <a:ext uri="{FF2B5EF4-FFF2-40B4-BE49-F238E27FC236}">
                <a16:creationId xmlns:a16="http://schemas.microsoft.com/office/drawing/2014/main" id="{BC44E912-DE2E-4470-B475-E5C5AFE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99" name="Google Shape;399;p16">
            <a:extLst xmlns:a="http://schemas.openxmlformats.org/drawingml/2006/main">
              <a:ext uri="{FF2B5EF4-FFF2-40B4-BE49-F238E27FC236}">
                <a16:creationId xmlns:a16="http://schemas.microsoft.com/office/drawing/2014/main" id="{267B0D94-D5A4-4E92-A1C4-4EFEC0A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Resolve</a:t>
            </a:r>
          </a:p>
        </p:txBody>
      </p:sp>
      <p:sp>
        <p:nvSpPr>
          <p:cNvPr id="400" name="Google Shape;400;p16">
            <a:extLst xmlns:a="http://schemas.openxmlformats.org/drawingml/2006/main">
              <a:ext uri="{FF2B5EF4-FFF2-40B4-BE49-F238E27FC236}">
                <a16:creationId xmlns:a16="http://schemas.microsoft.com/office/drawing/2014/main" id="{A43DB2CB-E673-4FD6-9576-26A454D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Pawn / Tile 상태 갱신</a:t>
            </a:r>
          </a:p>
        </p:txBody>
      </p:sp>
      <p:cxnSp>
        <p:nvCxnSpPr>
          <p:cNvPr id="428" name="Google Shape;401;p16"/>
          <p:cNvCxnSpPr/>
          <p:nvPr/>
        </p:nvCxnSpPr>
        <p:spPr>
          <a:xfrm xmlns:a="http://schemas.openxmlformats.org/drawingml/2006/main">
            <a:off x="8362950" y="3638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1EA24E04-659D-4C5C-BB40-6042C4EC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5528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B248F375-320F-48FA-903A-F52D23B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05125"/>
            <a:ext cx="2266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4" name="Google Shape;404;p16">
            <a:extLst xmlns:a="http://schemas.openxmlformats.org/drawingml/2006/main">
              <a:ext uri="{FF2B5EF4-FFF2-40B4-BE49-F238E27FC236}">
                <a16:creationId xmlns:a16="http://schemas.microsoft.com/office/drawing/2014/main" id="{87FED825-868B-400F-BDFC-4A804C7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3E300446-6110-4229-967F-1D2B8C8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Broadcast</a:t>
            </a: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A7556DA7-2934-4FAA-A182-BC976EB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Delta + Action Log 전파</a:t>
            </a:r>
          </a:p>
        </p:txBody>
      </p:sp>
      <p:sp>
        <p:nvSpPr>
          <p:cNvPr id="407" name="Google Shape;407;p16">
            <a:extLst xmlns:a="http://schemas.openxmlformats.org/drawingml/2006/main">
              <a:ext uri="{FF2B5EF4-FFF2-40B4-BE49-F238E27FC236}">
                <a16:creationId xmlns:a16="http://schemas.microsoft.com/office/drawing/2014/main" id="{9D48639F-BFE8-4022-8870-557A5AB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526370"/>
                </a:solidFill>
                <a:latin typeface="Noto Sans KR"/>
                <a:ea typeface="Noto Sans KR"/>
                <a:cs typeface="Noto Sans KR"/>
              </a:rPr>
              <a:t>의도와 결과를 분리하면, 클라이언트는 미리보기·피드백에 집중하고 서버는 판정의 기준점이 됩니다.</a:t>
            </a:r>
          </a:p>
        </p:txBody>
      </p:sp>
      <p:sp>
        <p:nvSpPr>
          <p:cNvPr id="408" name="Google Shape;408;p16">
            <a:extLst xmlns:a="http://schemas.openxmlformats.org/drawingml/2006/main">
              <a:ext uri="{FF2B5EF4-FFF2-40B4-BE49-F238E27FC236}">
                <a16:creationId xmlns:a16="http://schemas.microsoft.com/office/drawing/2014/main" id="{19D3712C-1B20-4B97-B225-36F3212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4" name="Google Shape;414;p17">
            <a:extLst xmlns:a="http://schemas.openxmlformats.org/drawingml/2006/main">
              <a:ext uri="{FF2B5EF4-FFF2-40B4-BE49-F238E27FC236}">
                <a16:creationId xmlns:a16="http://schemas.microsoft.com/office/drawing/2014/main" id="{DE7963AC-4B14-4EB6-AF67-B38F5523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13 / CHARACTER CASE</a:t>
            </a:r>
          </a:p>
        </p:txBody>
      </p:sp>
      <p:sp>
        <p:nvSpPr>
          <p:cNvPr id="415" name="Google Shape;415;p17">
            <a:extLst xmlns:a="http://schemas.openxmlformats.org/drawingml/2006/main">
              <a:ext uri="{FF2B5EF4-FFF2-40B4-BE49-F238E27FC236}">
                <a16:creationId xmlns:a16="http://schemas.microsoft.com/office/drawing/2014/main" id="{CDDCE4A3-B644-4F6D-88A4-3F6B1DF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Beige Fire는 ‘위치와 누적’을 읽게 만드는 사례입니다.</a:t>
            </a:r>
          </a:p>
        </p:txBody>
      </p:sp>
      <p:sp>
        <p:nvSpPr>
          <p:cNvPr id="416" name="Google Shape;416;p17">
            <a:extLst xmlns:a="http://schemas.openxmlformats.org/drawingml/2006/main">
              <a:ext uri="{FF2B5EF4-FFF2-40B4-BE49-F238E27FC236}">
                <a16:creationId xmlns:a16="http://schemas.microsoft.com/office/drawing/2014/main" id="{E8C26C39-C5B9-4A69-BCC3-80A714D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B9C6CF"/>
                </a:solidFill>
                <a:latin typeface="Noto Sans KR"/>
                <a:ea typeface="Noto Sans KR"/>
                <a:cs typeface="Noto Sans KR"/>
              </a:rPr>
              <a:t>한 캐릭터의 스킬 조합을 통해, 시스템 규칙이 실제 플레이 판단으로 이어지는 방식을 확인했습니다.</a:t>
            </a:r>
          </a:p>
        </p:txBody>
      </p:sp>
      <p:sp>
        <p:nvSpPr>
          <p:cNvPr id="417" name="Google Shape;417;p17">
            <a:extLst xmlns:a="http://schemas.openxmlformats.org/drawingml/2006/main">
              <a:ext uri="{FF2B5EF4-FFF2-40B4-BE49-F238E27FC236}">
                <a16:creationId xmlns:a16="http://schemas.microsoft.com/office/drawing/2014/main" id="{B4202BB2-6DD9-4C1F-A025-12EB386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9908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8" name="Google Shape;418;p17">
            <a:extLst xmlns:a="http://schemas.openxmlformats.org/drawingml/2006/main">
              <a:ext uri="{FF2B5EF4-FFF2-40B4-BE49-F238E27FC236}">
                <a16:creationId xmlns:a16="http://schemas.microsoft.com/office/drawing/2014/main" id="{3429834B-0EC4-40D6-994E-9FD9BA97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BEIGE FIRE</a:t>
            </a:r>
          </a:p>
        </p:txBody>
      </p:sp>
      <p:sp>
        <p:nvSpPr>
          <p:cNvPr id="419" name="Google Shape;419;p17">
            <a:extLst xmlns:a="http://schemas.openxmlformats.org/drawingml/2006/main">
              <a:ext uri="{FF2B5EF4-FFF2-40B4-BE49-F238E27FC236}">
                <a16:creationId xmlns:a16="http://schemas.microsoft.com/office/drawing/2014/main" id="{6CE86A48-DBDB-4018-9DD8-F2B599C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Heat를 쌓고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화염 지대로 경로를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5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재구성한다.</a:t>
            </a:r>
          </a:p>
        </p:txBody>
      </p:sp>
      <p:sp>
        <p:nvSpPr>
          <p:cNvPr id="420" name="Google Shape;420;p17">
            <a:extLst xmlns:a="http://schemas.openxmlformats.org/drawingml/2006/main">
              <a:ext uri="{FF2B5EF4-FFF2-40B4-BE49-F238E27FC236}">
                <a16:creationId xmlns:a16="http://schemas.microsoft.com/office/drawing/2014/main" id="{DB844B54-EC13-4173-953E-1C8DAB4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1" name="Google Shape;421;p17">
            <a:extLst xmlns:a="http://schemas.openxmlformats.org/drawingml/2006/main">
              <a:ext uri="{FF2B5EF4-FFF2-40B4-BE49-F238E27FC236}">
                <a16:creationId xmlns:a16="http://schemas.microsoft.com/office/drawing/2014/main" id="{1161E942-B1A8-4DFD-9550-44627231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Heat</a:t>
            </a:r>
          </a:p>
        </p:txBody>
      </p:sp>
      <p:sp>
        <p:nvSpPr>
          <p:cNvPr id="422" name="Google Shape;422;p17">
            <a:extLst xmlns:a="http://schemas.openxmlformats.org/drawingml/2006/main">
              <a:ext uri="{FF2B5EF4-FFF2-40B4-BE49-F238E27FC236}">
                <a16:creationId xmlns:a16="http://schemas.microsoft.com/office/drawing/2014/main" id="{A57D1EF6-EADE-43E3-B456-F02317E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339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3" name="Google Shape;423;p17">
            <a:extLst xmlns:a="http://schemas.openxmlformats.org/drawingml/2006/main">
              <a:ext uri="{FF2B5EF4-FFF2-40B4-BE49-F238E27FC236}">
                <a16:creationId xmlns:a16="http://schemas.microsoft.com/office/drawing/2014/main" id="{4A127CF7-B5F2-4E3B-B963-3208A168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091A2D"/>
                </a:solidFill>
                <a:latin typeface="Noto Sans KR"/>
                <a:ea typeface="Noto Sans KR"/>
                <a:cs typeface="Noto Sans KR"/>
              </a:rPr>
              <a:t>Fire Wall</a:t>
            </a:r>
          </a:p>
        </p:txBody>
      </p:sp>
      <p:sp>
        <p:nvSpPr>
          <p:cNvPr id="424" name="Google Shape;424;p17">
            <a:extLst xmlns:a="http://schemas.openxmlformats.org/drawingml/2006/main">
              <a:ext uri="{FF2B5EF4-FFF2-40B4-BE49-F238E27FC236}">
                <a16:creationId xmlns:a16="http://schemas.microsoft.com/office/drawing/2014/main" id="{8B273EDA-ED6E-42DE-A803-9E7D50B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609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5" name="Google Shape;425;p17">
            <a:extLst xmlns:a="http://schemas.openxmlformats.org/drawingml/2006/main">
              <a:ext uri="{FF2B5EF4-FFF2-40B4-BE49-F238E27FC236}">
                <a16:creationId xmlns:a16="http://schemas.microsoft.com/office/drawing/2014/main" id="{41FD7116-E514-4885-B672-E5FFA8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26" name="Google Shape;426;p17">
            <a:extLst xmlns:a="http://schemas.openxmlformats.org/drawingml/2006/main">
              <a:ext uri="{FF2B5EF4-FFF2-40B4-BE49-F238E27FC236}">
                <a16:creationId xmlns:a16="http://schemas.microsoft.com/office/drawing/2014/main" id="{8BF4D1F2-824C-4B39-854B-A8A266BA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진입 경로를 제한</a:t>
            </a:r>
          </a:p>
        </p:txBody>
      </p:sp>
      <p:sp>
        <p:nvSpPr>
          <p:cNvPr id="427" name="Google Shape;427;p17">
            <a:extLst xmlns:a="http://schemas.openxmlformats.org/drawingml/2006/main">
              <a:ext uri="{FF2B5EF4-FFF2-40B4-BE49-F238E27FC236}">
                <a16:creationId xmlns:a16="http://schemas.microsoft.com/office/drawing/2014/main" id="{D36D6DD8-0B7C-4136-8E1B-E87A63C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609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8" name="Google Shape;428;p17">
            <a:extLst xmlns:a="http://schemas.openxmlformats.org/drawingml/2006/main">
              <a:ext uri="{FF2B5EF4-FFF2-40B4-BE49-F238E27FC236}">
                <a16:creationId xmlns:a16="http://schemas.microsoft.com/office/drawing/2014/main" id="{DDC85BC4-E30B-4A79-A702-A195750A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57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29" name="Google Shape;429;p17">
            <a:extLst xmlns:a="http://schemas.openxmlformats.org/drawingml/2006/main">
              <a:ext uri="{FF2B5EF4-FFF2-40B4-BE49-F238E27FC236}">
                <a16:creationId xmlns:a16="http://schemas.microsoft.com/office/drawing/2014/main" id="{2C6E441A-7B51-431C-A6FC-0503F27D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9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상태를 누적</a:t>
            </a:r>
          </a:p>
        </p:txBody>
      </p:sp>
      <p:sp>
        <p:nvSpPr>
          <p:cNvPr id="430" name="Google Shape;430;p17">
            <a:extLst xmlns:a="http://schemas.openxmlformats.org/drawingml/2006/main">
              <a:ext uri="{FF2B5EF4-FFF2-40B4-BE49-F238E27FC236}">
                <a16:creationId xmlns:a16="http://schemas.microsoft.com/office/drawing/2014/main" id="{876EA2CD-1C42-453A-B896-22495D5B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609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2D47"/>
          </a:solidFill>
          <a:ln xmlns:a="http://schemas.openxmlformats.org/drawingml/2006/main" w="9525" cmpd="sng">
            <a:solidFill>
              <a:srgbClr val="29445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1" name="Google Shape;431;p17">
            <a:extLst xmlns:a="http://schemas.openxmlformats.org/drawingml/2006/main">
              <a:ext uri="{FF2B5EF4-FFF2-40B4-BE49-F238E27FC236}">
                <a16:creationId xmlns:a16="http://schemas.microsoft.com/office/drawing/2014/main" id="{5A9DF88A-19BD-4652-A08A-B47F2B43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32" name="Google Shape;432;p17">
            <a:extLst xmlns:a="http://schemas.openxmlformats.org/drawingml/2006/main">
              <a:ext uri="{FF2B5EF4-FFF2-40B4-BE49-F238E27FC236}">
                <a16:creationId xmlns:a16="http://schemas.microsoft.com/office/drawing/2014/main" id="{4D45E8A5-B38C-4C9F-920D-838F434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86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결정적 행동에 전환</a:t>
            </a:r>
          </a:p>
        </p:txBody>
      </p:sp>
      <p:sp>
        <p:nvSpPr>
          <p:cNvPr id="433" name="Google Shape;433;p17">
            <a:extLst xmlns:a="http://schemas.openxmlformats.org/drawingml/2006/main">
              <a:ext uri="{FF2B5EF4-FFF2-40B4-BE49-F238E27FC236}">
                <a16:creationId xmlns:a16="http://schemas.microsoft.com/office/drawing/2014/main" id="{D53E10AA-81E8-4F8B-B557-86C47296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2CFD6"/>
                </a:solidFill>
                <a:latin typeface="Noto Sans KR"/>
                <a:ea typeface="Noto Sans KR"/>
                <a:cs typeface="Noto Sans KR"/>
              </a:rPr>
              <a:t>캐릭터를 ‘스킬 목록’이 아니라, 전투에서 반복하게 될 판단의 묶음으로 설명합니다.</a:t>
            </a:r>
          </a:p>
        </p:txBody>
      </p:sp>
      <p:sp>
        <p:nvSpPr>
          <p:cNvPr id="434" name="Google Shape;434;p17">
            <a:extLst xmlns:a="http://schemas.openxmlformats.org/drawingml/2006/main">
              <a:ext uri="{FF2B5EF4-FFF2-40B4-BE49-F238E27FC236}">
                <a16:creationId xmlns:a16="http://schemas.microsoft.com/office/drawing/2014/main" id="{74894FE0-8E87-4EF8-8DF9-2AAFE96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33828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Google Shape;440;p18">
            <a:extLst xmlns:a="http://schemas.openxmlformats.org/drawingml/2006/main">
              <a:ext uri="{FF2B5EF4-FFF2-40B4-BE49-F238E27FC236}">
                <a16:creationId xmlns:a16="http://schemas.microsoft.com/office/drawing/2014/main" id="{C1D678F2-B677-48CC-94D5-906B7C9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14 / DATA TABLE DESIGN</a:t>
            </a:r>
          </a:p>
        </p:txBody>
      </p:sp>
      <p:sp>
        <p:nvSpPr>
          <p:cNvPr id="441" name="Google Shape;441;p18">
            <a:extLst xmlns:a="http://schemas.openxmlformats.org/drawingml/2006/main">
              <a:ext uri="{FF2B5EF4-FFF2-40B4-BE49-F238E27FC236}">
                <a16:creationId xmlns:a16="http://schemas.microsoft.com/office/drawing/2014/main" id="{B21D01C3-B6F6-4126-A54B-F0F2AD4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1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스킬은 ‘정의–효과–파라미터’로 나눠 조합합니다.</a:t>
            </a:r>
          </a:p>
        </p:txBody>
      </p:sp>
      <p:sp>
        <p:nvSpPr>
          <p:cNvPr id="442" name="Google Shape;442;p18">
            <a:extLst xmlns:a="http://schemas.openxmlformats.org/drawingml/2006/main">
              <a:ext uri="{FF2B5EF4-FFF2-40B4-BE49-F238E27FC236}">
                <a16:creationId xmlns:a16="http://schemas.microsoft.com/office/drawing/2014/main" id="{2F733CCD-DB43-4D67-9092-C5127D0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B6D7B"/>
                </a:solidFill>
                <a:latin typeface="Noto Sans KR"/>
                <a:ea typeface="Noto Sans KR"/>
                <a:cs typeface="Noto Sans KR"/>
              </a:rPr>
              <a:t>역할과 기본 스탯, 스킬의 행동 규칙, 효과의 실행 순서, 수치를 서로 다른 테이블 책임으로 분리했습니다.</a:t>
            </a:r>
          </a:p>
        </p:txBody>
      </p:sp>
      <p:cxnSp>
        <p:nvCxnSpPr>
          <p:cNvPr id="476" name="Google Shape;443;p18"/>
          <p:cNvCxnSpPr/>
          <p:nvPr/>
        </p:nvCxnSpPr>
        <p:spPr>
          <a:xfrm xmlns:a="http://schemas.openxmlformats.org/drawingml/2006/main">
            <a:off x="270510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" name="Google Shape;444;p18">
            <a:extLst xmlns:a="http://schemas.openxmlformats.org/drawingml/2006/main">
              <a:ext uri="{FF2B5EF4-FFF2-40B4-BE49-F238E27FC236}">
                <a16:creationId xmlns:a16="http://schemas.microsoft.com/office/drawing/2014/main" id="{C21EC98B-B172-4A98-9E20-D43B522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5275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478" name="Google Shape;445;p18"/>
          <p:cNvCxnSpPr/>
          <p:nvPr/>
        </p:nvCxnSpPr>
        <p:spPr>
          <a:xfrm xmlns:a="http://schemas.openxmlformats.org/drawingml/2006/main">
            <a:off x="542925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33C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18">
            <a:extLst xmlns:a="http://schemas.openxmlformats.org/drawingml/2006/main">
              <a:ext uri="{FF2B5EF4-FFF2-40B4-BE49-F238E27FC236}">
                <a16:creationId xmlns:a16="http://schemas.microsoft.com/office/drawing/2014/main" id="{F10C9B0E-C5CE-4222-8A74-A3B3D5EF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7690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 cmpd="sng">
            <a:solidFill>
              <a:srgbClr val="33C2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480" name="Google Shape;447;p18"/>
          <p:cNvCxnSpPr/>
          <p:nvPr/>
        </p:nvCxnSpPr>
        <p:spPr>
          <a:xfrm xmlns:a="http://schemas.openxmlformats.org/drawingml/2006/main">
            <a:off x="8153400" y="3524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F632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18">
            <a:extLst xmlns:a="http://schemas.openxmlformats.org/drawingml/2006/main">
              <a:ext uri="{FF2B5EF4-FFF2-40B4-BE49-F238E27FC236}">
                <a16:creationId xmlns:a16="http://schemas.microsoft.com/office/drawing/2014/main" id="{A6EED63A-9D14-42B5-8996-BCDCF812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01050" y="3438525"/>
            <a:ext cx="171450" cy="17145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 cmpd="sng">
            <a:solidFill>
              <a:srgbClr val="FF63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9" name="Google Shape;449;p18">
            <a:extLst xmlns:a="http://schemas.openxmlformats.org/drawingml/2006/main">
              <a:ext uri="{FF2B5EF4-FFF2-40B4-BE49-F238E27FC236}">
                <a16:creationId xmlns:a16="http://schemas.microsoft.com/office/drawing/2014/main" id="{90B1E5F7-AF3D-431D-A907-A80F53E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8">
            <a:extLst xmlns:a="http://schemas.openxmlformats.org/drawingml/2006/main">
              <a:ext uri="{FF2B5EF4-FFF2-40B4-BE49-F238E27FC236}">
                <a16:creationId xmlns:a16="http://schemas.microsoft.com/office/drawing/2014/main" id="{0FECB111-903C-4C3E-816E-F6C303B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1" name="Google Shape;451;p18">
            <a:extLst xmlns:a="http://schemas.openxmlformats.org/drawingml/2006/main">
              <a:ext uri="{FF2B5EF4-FFF2-40B4-BE49-F238E27FC236}">
                <a16:creationId xmlns:a16="http://schemas.microsoft.com/office/drawing/2014/main" id="{3AAFAA1D-4223-469A-A4DD-A083B432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47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ClassKey + PawnTemplate</a:t>
            </a:r>
          </a:p>
        </p:txBody>
      </p:sp>
      <p:sp>
        <p:nvSpPr>
          <p:cNvPr id="452" name="Google Shape;452;p18">
            <a:extLst xmlns:a="http://schemas.openxmlformats.org/drawingml/2006/main">
              <a:ext uri="{FF2B5EF4-FFF2-40B4-BE49-F238E27FC236}">
                <a16:creationId xmlns:a16="http://schemas.microsoft.com/office/drawing/2014/main" id="{25318EC0-A0AA-4DD7-819A-FCD6EF10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클래스 키 · 역할 · 기본 스탯 · 이동력</a:t>
            </a:r>
          </a:p>
        </p:txBody>
      </p:sp>
      <p:sp>
        <p:nvSpPr>
          <p:cNvPr id="453" name="Google Shape;453;p18">
            <a:extLst xmlns:a="http://schemas.openxmlformats.org/drawingml/2006/main">
              <a:ext uri="{FF2B5EF4-FFF2-40B4-BE49-F238E27FC236}">
                <a16:creationId xmlns:a16="http://schemas.microsoft.com/office/drawing/2014/main" id="{794A7A0A-C5C2-4738-96F6-3AFA766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4" name="Google Shape;454;p18">
            <a:extLst xmlns:a="http://schemas.openxmlformats.org/drawingml/2006/main">
              <a:ext uri="{FF2B5EF4-FFF2-40B4-BE49-F238E27FC236}">
                <a16:creationId xmlns:a16="http://schemas.microsoft.com/office/drawing/2014/main" id="{F17730E8-8DE4-44A8-96B4-2F84E93C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55" name="Google Shape;455;p18">
            <a:extLst xmlns:a="http://schemas.openxmlformats.org/drawingml/2006/main">
              <a:ext uri="{FF2B5EF4-FFF2-40B4-BE49-F238E27FC236}">
                <a16:creationId xmlns:a16="http://schemas.microsoft.com/office/drawing/2014/main" id="{04E1968F-2A2B-48F3-A8FE-F119261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</a:t>
            </a:r>
          </a:p>
        </p:txBody>
      </p:sp>
      <p:sp>
        <p:nvSpPr>
          <p:cNvPr id="456" name="Google Shape;456;p18">
            <a:extLst xmlns:a="http://schemas.openxmlformats.org/drawingml/2006/main">
              <a:ext uri="{FF2B5EF4-FFF2-40B4-BE49-F238E27FC236}">
                <a16:creationId xmlns:a16="http://schemas.microsoft.com/office/drawing/2014/main" id="{86859DE8-6F04-4B3B-9BB4-A449DD0F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슬롯 · AP · 사거리 · 대상 · EffectGroup</a:t>
            </a:r>
          </a:p>
        </p:txBody>
      </p:sp>
      <p:sp>
        <p:nvSpPr>
          <p:cNvPr id="457" name="Google Shape;457;p18">
            <a:extLst xmlns:a="http://schemas.openxmlformats.org/drawingml/2006/main">
              <a:ext uri="{FF2B5EF4-FFF2-40B4-BE49-F238E27FC236}">
                <a16:creationId xmlns:a16="http://schemas.microsoft.com/office/drawing/2014/main" id="{61F713BF-7B23-4271-8907-9C1FC7F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8" name="Google Shape;458;p18">
            <a:extLst xmlns:a="http://schemas.openxmlformats.org/drawingml/2006/main">
              <a:ext uri="{FF2B5EF4-FFF2-40B4-BE49-F238E27FC236}">
                <a16:creationId xmlns:a16="http://schemas.microsoft.com/office/drawing/2014/main" id="{B416A8E8-C3FE-43C8-B689-4869C11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59" name="Google Shape;459;p18">
            <a:extLst xmlns:a="http://schemas.openxmlformats.org/drawingml/2006/main">
              <a:ext uri="{FF2B5EF4-FFF2-40B4-BE49-F238E27FC236}">
                <a16:creationId xmlns:a16="http://schemas.microsoft.com/office/drawing/2014/main" id="{0A7BB7AB-1E17-4E8B-8BF2-64E9743F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BattleSkillEffect</a:t>
            </a:r>
          </a:p>
        </p:txBody>
      </p:sp>
      <p:sp>
        <p:nvSpPr>
          <p:cNvPr id="460" name="Google Shape;460;p18">
            <a:extLst xmlns:a="http://schemas.openxmlformats.org/drawingml/2006/main">
              <a:ext uri="{FF2B5EF4-FFF2-40B4-BE49-F238E27FC236}">
                <a16:creationId xmlns:a16="http://schemas.microsoft.com/office/drawing/2014/main" id="{3386C03A-162A-4CCF-A48C-8D40CF6B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순서 · 트리거 · 대상 · EffectKey</a:t>
            </a:r>
          </a:p>
        </p:txBody>
      </p:sp>
      <p:sp>
        <p:nvSpPr>
          <p:cNvPr id="461" name="Google Shape;461;p18">
            <a:extLst xmlns:a="http://schemas.openxmlformats.org/drawingml/2006/main">
              <a:ext uri="{FF2B5EF4-FFF2-40B4-BE49-F238E27FC236}">
                <a16:creationId xmlns:a16="http://schemas.microsoft.com/office/drawing/2014/main" id="{F05D90A6-500E-47E8-9327-2533975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E0E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2" name="Google Shape;462;p18">
            <a:extLst xmlns:a="http://schemas.openxmlformats.org/drawingml/2006/main">
              <a:ext uri="{FF2B5EF4-FFF2-40B4-BE49-F238E27FC236}">
                <a16:creationId xmlns:a16="http://schemas.microsoft.com/office/drawing/2014/main" id="{691370FE-6F22-4D89-BB06-A7ADA7D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63" name="Google Shape;463;p18">
            <a:extLst xmlns:a="http://schemas.openxmlformats.org/drawingml/2006/main">
              <a:ext uri="{FF2B5EF4-FFF2-40B4-BE49-F238E27FC236}">
                <a16:creationId xmlns:a16="http://schemas.microsoft.com/office/drawing/2014/main" id="{33CE9E95-566E-41DD-BE4A-74A0E06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BattleSkillEffectParam</a:t>
            </a:r>
          </a:p>
        </p:txBody>
      </p:sp>
      <p:sp>
        <p:nvSpPr>
          <p:cNvPr id="464" name="Google Shape;464;p18">
            <a:extLst xmlns:a="http://schemas.openxmlformats.org/drawingml/2006/main">
              <a:ext uri="{FF2B5EF4-FFF2-40B4-BE49-F238E27FC236}">
                <a16:creationId xmlns:a16="http://schemas.microsoft.com/office/drawing/2014/main" id="{C0545FA0-27CD-490C-9A62-6A02033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2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86B78"/>
                </a:solidFill>
                <a:latin typeface="Noto Sans KR"/>
                <a:ea typeface="Noto Sans KR"/>
                <a:cs typeface="Noto Sans KR"/>
              </a:rPr>
              <a:t>계수 · 기간 · 확률 · 수정 수치</a:t>
            </a:r>
          </a:p>
        </p:txBody>
      </p:sp>
      <p:sp>
        <p:nvSpPr>
          <p:cNvPr id="465" name="Google Shape;465;p18">
            <a:extLst xmlns:a="http://schemas.openxmlformats.org/drawingml/2006/main">
              <a:ext uri="{FF2B5EF4-FFF2-40B4-BE49-F238E27FC236}">
                <a16:creationId xmlns:a16="http://schemas.microsoft.com/office/drawing/2014/main" id="{02F0DDA8-096C-46E4-94E9-5B12002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p18">
            <a:extLst xmlns:a="http://schemas.openxmlformats.org/drawingml/2006/main">
              <a:ext uri="{FF2B5EF4-FFF2-40B4-BE49-F238E27FC236}">
                <a16:creationId xmlns:a16="http://schemas.microsoft.com/office/drawing/2014/main" id="{F20A8CA8-3223-4E76-B32A-810445C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DATA가 통제하는 것</a:t>
            </a:r>
          </a:p>
        </p:txBody>
      </p:sp>
      <p:sp>
        <p:nvSpPr>
          <p:cNvPr id="467" name="Google Shape;467;p18">
            <a:extLst xmlns:a="http://schemas.openxmlformats.org/drawingml/2006/main">
              <a:ext uri="{FF2B5EF4-FFF2-40B4-BE49-F238E27FC236}">
                <a16:creationId xmlns:a16="http://schemas.microsoft.com/office/drawing/2014/main" id="{9E2A1C2F-2FC5-4225-81F5-F8E9DB40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스킬 조합 · 대상 유형 · 수치 밸런싱</a:t>
            </a:r>
          </a:p>
        </p:txBody>
      </p:sp>
      <p:sp>
        <p:nvSpPr>
          <p:cNvPr id="468" name="Google Shape;468;p18">
            <a:extLst xmlns:a="http://schemas.openxmlformats.org/drawingml/2006/main">
              <a:ext uri="{FF2B5EF4-FFF2-40B4-BE49-F238E27FC236}">
                <a16:creationId xmlns:a16="http://schemas.microsoft.com/office/drawing/2014/main" id="{EE16CFC6-DB5F-4317-ADF6-D5C8EF8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9" name="Google Shape;469;p18">
            <a:extLst xmlns:a="http://schemas.openxmlformats.org/drawingml/2006/main">
              <a:ext uri="{FF2B5EF4-FFF2-40B4-BE49-F238E27FC236}">
                <a16:creationId xmlns:a16="http://schemas.microsoft.com/office/drawing/2014/main" id="{D42E415B-B3E1-454A-86A8-6169E4D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62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CODE HOOK이 보완하는 것</a:t>
            </a:r>
          </a:p>
        </p:txBody>
      </p:sp>
      <p:sp>
        <p:nvSpPr>
          <p:cNvPr id="470" name="Google Shape;470;p18">
            <a:extLst xmlns:a="http://schemas.openxmlformats.org/drawingml/2006/main">
              <a:ext uri="{FF2B5EF4-FFF2-40B4-BE49-F238E27FC236}">
                <a16:creationId xmlns:a16="http://schemas.microsoft.com/office/drawing/2014/main" id="{4FDE2F1C-E3F2-41A1-AAE7-7140B901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22235"/>
                </a:solidFill>
                <a:latin typeface="Noto Sans KR"/>
                <a:ea typeface="Noto Sans KR"/>
                <a:cs typeface="Noto Sans KR"/>
              </a:rPr>
              <a:t>고유 범위 · 명중/치명 규칙 · 캐릭터 전용 행동</a:t>
            </a:r>
          </a:p>
        </p:txBody>
      </p:sp>
      <p:sp>
        <p:nvSpPr>
          <p:cNvPr id="471" name="Google Shape;471;p18">
            <a:extLst xmlns:a="http://schemas.openxmlformats.org/drawingml/2006/main">
              <a:ext uri="{FF2B5EF4-FFF2-40B4-BE49-F238E27FC236}">
                <a16:creationId xmlns:a16="http://schemas.microsoft.com/office/drawing/2014/main" id="{8F925B04-EC8A-4201-B7C1-D93AEC4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>
                <a:solidFill>
                  <a:srgbClr val="536572"/>
                </a:solidFill>
                <a:latin typeface="Noto Sans KR"/>
                <a:ea typeface="Noto Sans KR"/>
                <a:cs typeface="Noto Sans KR"/>
              </a:rPr>
              <a:t>기존 EffectKey로 가능한 스킬은 데이터 조합으로 추가하고, 공통 원시 기능이 없는 고유 규칙만 BattlePawn 전용 구현으로 넘깁니다.</a:t>
            </a:r>
          </a:p>
        </p:txBody>
      </p:sp>
      <p:sp>
        <p:nvSpPr>
          <p:cNvPr id="472" name="Google Shape;472;p18">
            <a:extLst xmlns:a="http://schemas.openxmlformats.org/drawingml/2006/main">
              <a:ext uri="{FF2B5EF4-FFF2-40B4-BE49-F238E27FC236}">
                <a16:creationId xmlns:a16="http://schemas.microsoft.com/office/drawing/2014/main" id="{A05D3086-51B1-40EB-B290-7F9394D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667786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348615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EEB46-15C9-4B5C-AF49-EBA42238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15 / SKILL EXECUTION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77F6-6332-4C91-9972-25E65DA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스킬은 데이터 조합으로 정의하고, 공통 실행기로 결과를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02E2-90DA-4022-8B6F-6403436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스킬 선택부터 효과 적용·로그 생성까지의 규칙 흐름을 서버에서 하나의 파이프라인으로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BCBD2-5366-40EF-B902-605F8D6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DFAC-3F07-4532-ACAE-6A8F1CF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48F77-A5ED-4E35-A19B-9FE949B8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89F3-3DB6-48D4-81B9-0C23756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BF259-BCDD-4FB4-8281-F8E723EA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SKILL 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D4355-5C86-4CA7-8F2C-74280F0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Class + Action Slot</a:t>
            </a:r>
          </a:p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(또는 Override Key)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F6C72-37B4-4D82-8826-BCDDCC5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78CE7-8C58-4690-B154-8FC46C2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145F6-2C4E-413D-BBCE-FA3A77F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F09F2-D51B-4E6E-A366-FADEC70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33417-65B1-44DA-9C11-AE58F21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BATTLE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C8544-D1E8-468E-BF52-71B4C5E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AP · 사거리 · 대상</a:t>
            </a:r>
          </a:p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EffectGroup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1D13-509C-4D4D-BC20-438A88F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84921-7D00-4C74-A8F1-8FD16857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91171-B0A8-4F44-BC8A-3FB7CC1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198B6-FEFB-42A5-9597-3087A91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CA628-F5B7-4252-B7B8-124B2C2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EFFECT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F738A-F3D3-406A-9307-52C2D85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순서 · 트리거 · 대상</a:t>
            </a:r>
          </a:p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EffectKey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0B34F-698D-4664-819A-496D1AE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C2C7"/>
          </a:solidFill>
          <a:ln xmlns:a="http://schemas.openxmlformats.org/drawingml/2006/main" w="0">
            <a:solidFill>
              <a:srgbClr val="33C2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ED6DC-5A5F-48F9-897C-EE8CEC6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7FA49-5FC7-49F2-A201-9CA8ED5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BDF6D-67F1-4C23-9CE8-C3D067A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06401-0DB1-457D-A57E-74705AB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EXECUTOR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EFDCE-D1DC-4BB0-BCB5-D3F6AFE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공통 효과 실행</a:t>
            </a:r>
          </a:p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피해 · 상태 · 위치 · 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4592C-4BE5-4C01-BC60-34A2A10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1C286-B571-4CBA-9193-86DF99AA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1733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16E474-917D-41A9-A954-D3F6324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B37A9-4126-4FDA-83AF-1BFF60B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86824-6B6A-46B2-8AF7-9353924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STATE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4B220-0DF2-4D12-8C92-E3225A2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147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Pawn / Tile Delta</a:t>
            </a:r>
          </a:p>
          <a:p xmlns:a="http://schemas.openxmlformats.org/drawingml/2006/main">
            <a:pPr algn="ctr">
              <a:defRPr sz="1088" b="1">
                <a:solidFill>
                  <a:srgbClr val="10243A"/>
                </a:solidFill>
              </a:defRPr>
            </a:pPr>
            <a:r>
              <a:rPr sz="1088" b="1">
                <a:solidFill>
                  <a:srgbClr val="10243A"/>
                </a:solidFill>
              </a:rPr>
              <a:t>Action 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69515-5918-4F6D-A001-FCF2924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58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356C7-0C7E-4B38-8858-AC13EE3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19D49-4BDC-4959-8052-25B30A0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013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설계 포인트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0C0AD-F35B-4A35-B384-E19A4FD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1013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기존 EffectKey로 가능한 변화는 데이터 행 조합으로 추가하고,</a:t>
            </a:r>
          </a:p>
          <a:p xmlns:a="http://schemas.openxmlformats.org/drawingml/2006/main">
            <a:pPr algn="l"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새로운 원시 규칙이 필요한 경우에만 코드 훅을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5348615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8AE987-C644-4983-8F22-B37BB93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16 / TURN LOOP &amp;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2D8E6-303F-4B8F-8421-5654E2C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턴 큐는 살아 있는 유닛만 순환시키고, 턴 시작 효과까지 서버가 확정합니다.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0337D-8377-4503-9861-8CBA409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PvP에서는 양측 생존 유닛을 하나의 큐로 구성하고, 라운드 경계마다 순서를 다시 섞습니다.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4F78D-07E5-4856-85D7-E488524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FC46E-406F-46F7-9CEA-BDEACAA3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E1E39-51FC-4C84-8296-5BAD6F4C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6E214-7D04-4F1B-AE79-2D96910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D87AE-B88A-43CC-96FE-4D494EA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BATTLE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7F58-29A5-4015-B066-B8DC624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생존 유닛 수집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아군 + PvP 적군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2CE2C-139C-49BA-B73C-468B687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DE20-250E-4A5A-B77E-19758CA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C1C69-1B3E-4740-A735-041956D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0E82-43C1-4DCD-A8E2-114DB7F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1AD34-08E9-4B0D-8C9F-CCEC031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BUILD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AF11-11A4-4638-B279-268DF51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셔플 후 첫 유닛을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현재 턴으로 설정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F5AC7-8ACC-4465-9613-80CDE81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1B1EE-60B0-4E2B-B896-5460F2F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26DD-3CA1-4454-848B-B6A18F8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C2C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913BA-5A1F-4679-9649-07DE6744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91A2D"/>
                </a:solidFill>
              </a:defRPr>
            </a:pPr>
            <a:r>
              <a:rPr sz="863" b="1">
                <a:solidFill>
                  <a:srgbClr val="091A2D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EBC69-CD08-4E07-97DB-4E7C304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C2C7"/>
                </a:solidFill>
              </a:defRPr>
            </a:pPr>
            <a:r>
              <a:rPr sz="975" b="1">
                <a:solidFill>
                  <a:srgbClr val="33C2C7"/>
                </a:solidFill>
              </a:rPr>
              <a:t>START 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ED3CD-7C73-4FCA-83FE-6C48F49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지속 효과 진행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AP·행동 사용량 초기화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B0394-3A4D-4C40-ABA8-E471B55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9B1CE-138B-429E-8BFC-77FB7397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510A4-3300-409E-B8FA-6F859D5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6DE23-666C-41DA-B67D-6E4667B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5EAA3-AD1B-4621-86EE-008543D1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PLAYER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ABE9C-E87B-4C69-973B-DB159DB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이동 / 스킬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서버 검증·해결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B5074-2755-4DC2-94CD-C2CBA81F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5763B-D308-4B09-A599-D2B9872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8669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A505E-C695-473D-A767-3D4A5320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63061-24FC-4441-99DA-94D86F3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91B3A-C2F7-4D41-89F5-AC630E3B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465E"/>
                </a:solidFill>
              </a:defRPr>
            </a:pPr>
            <a:r>
              <a:rPr sz="975" b="1">
                <a:solidFill>
                  <a:srgbClr val="29465E"/>
                </a:solidFill>
              </a:rPr>
              <a:t>END TURN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86AF0-6F52-4437-9AD8-E22216E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14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종료 트리거 → 다음 생존 유닛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큐 경계면 재구성·재셔플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647ED-F439-4848-86B4-F42E4151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7239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 w="9525">
            <a:solidFill>
              <a:srgbClr val="091A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E5A3E8-B0F3-4EE8-86C7-CF56949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95825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F0E6"/>
                </a:solidFill>
              </a:defRPr>
            </a:pPr>
            <a:r>
              <a:rPr sz="1125" b="1">
                <a:solidFill>
                  <a:srgbClr val="F2F0E6"/>
                </a:solidFill>
              </a:rPr>
              <a:t>죽은 유닛은 순회 중 건너뛰고, 턴 시작 중 사망·큐 재구성이 발생하면 최신 큐를 결과 패킷으로 동기화합니다.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99C71-0E80-441D-B088-AB994F1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17 / SCENE TRANSITION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8554F-E29D-45A8-82E3-A395844A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전투 씬은 서버의 전투 스냅샷이 준비된 뒤에 구성합니다.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57837-62B3-4BDB-B182-0EB0431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클라이언트는 서버가 확정한 입장·결과 이벤트를 기준으로 씬과 Addressable 오브젝트를 로드합니다.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239EF-28FB-48AF-B4E7-FB901DF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9B14F-5E0C-438E-A914-206C016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73C6-07EE-496B-9AFF-E15BD47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FIELD SCENE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C916-1B39-4A13-82AB-5C1E912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탐험 / 매칭 진입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DB786-3F57-4AF1-BC08-E4FCE8F2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E440A-3FB4-4FE4-9675-BFEC27F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63F0F-4358-412B-9BC0-1A568F3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6324"/>
                </a:solidFill>
              </a:defRPr>
            </a:pPr>
            <a:r>
              <a:rPr sz="938" b="1">
                <a:solidFill>
                  <a:srgbClr val="FF6324"/>
                </a:solidFill>
              </a:rPr>
              <a:t>S_ENTER_BATTLE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F9D7-12F3-4287-826E-03707F9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 ID · 맵 · 타일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Pawn Snapshot · 턴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EA382-1861-4405-8238-20166D5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7463B-6120-49CE-B560-F2AE70D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4E30-9A13-4E1F-A0D7-C107C46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TRANSITION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B222F-B2AB-4ECD-B99B-38BB8CFF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오버레이 표시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BattleScene 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6FBCF-F4F7-4AD3-9C7F-920587A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132D-D3FA-4753-9268-2F88879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35B5E-B359-4529-92CE-90F5CBB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ADDRESSABLE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EB3BF-A47E-4CE5-A56D-F7F34941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BattleField_001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맵 프리팹 인스턴스화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9BCC7-55B3-4E5A-9BA1-7C65198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A832E-B0C7-4D7E-BDF0-F16500A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8288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92EBE-E616-4467-9451-2D1410D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76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9465E"/>
                </a:solidFill>
              </a:defRPr>
            </a:pPr>
            <a:r>
              <a:rPr sz="938" b="1">
                <a:solidFill>
                  <a:srgbClr val="29465E"/>
                </a:solidFill>
              </a:rPr>
              <a:t>BATTLE 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C3B68-E0B9-43E5-A679-D732F9D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Grid·타일·Pawn·UI</a:t>
            </a:r>
          </a:p>
          <a:p xmlns:a="http://schemas.openxmlformats.org/drawingml/2006/main">
            <a:pPr algn="ctr">
              <a:defRPr sz="1013" b="1">
                <a:solidFill>
                  <a:srgbClr val="10243A"/>
                </a:solidFill>
              </a:defRPr>
            </a:pPr>
            <a:r>
              <a:rPr sz="1013" b="1">
                <a:solidFill>
                  <a:srgbClr val="10243A"/>
                </a:solidFill>
              </a:rPr>
              <a:t>스냅샷으로 초기화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1BE8E-CEA6-42EF-A2AC-32A755E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BATTLE 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B3166-3386-40F9-B829-A7C75A14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6A72F-EBA6-45C2-9018-58448FA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S_BATTLE_RESULT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09062-4662-4807-A100-6051DE30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승패·변경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3FD083-AA3E-47D7-9B2A-9CB2E133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E984A-977B-4689-841F-CB9A53EF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F52B4-F66D-4F40-B3BD-F8EAE92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RESULT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04124-8E37-47B1-8F4D-DABEC96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결과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987C7-2DA8-4261-AB2C-07731E9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D9C2B-1CBA-40F8-A183-A52001B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08837E-2A99-4431-B601-625DB0C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C2C7"/>
                </a:solidFill>
              </a:defRPr>
            </a:pPr>
            <a:r>
              <a:rPr sz="900" b="1">
                <a:solidFill>
                  <a:srgbClr val="33C2C7"/>
                </a:solidFill>
              </a:rPr>
              <a:t>C / S RESULT 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1EBC90-EC7A-41E2-A5A0-971CA02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결과 확인 응답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BBFCA3-F612-42F1-A968-0D2B019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8157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419D0-7E68-4366-8700-E5BECE73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2190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5EEFA-2ECD-4C64-AEEC-247787A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38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9465E"/>
                </a:solidFill>
              </a:defRPr>
            </a:pPr>
            <a:r>
              <a:rPr sz="900" b="1">
                <a:solidFill>
                  <a:srgbClr val="29465E"/>
                </a:solidFill>
              </a:rPr>
              <a:t>FIELD SCENE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D83EE-5CCC-47F5-945A-92A6F6F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0958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오버레이 후 복귀</a:t>
            </a:r>
          </a:p>
        </p:txBody>
      </p:sp>
    </p:spTree>
    <p:extLst>
      <p:ext uri="{BB962C8B-B14F-4D97-AF65-F5344CB8AC3E}">
        <p14:creationId xmlns:p14="http://schemas.microsoft.com/office/powerpoint/2010/main" val="18075406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ACD38-0480-4A4E-BB6B-0FF9602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324"/>
                </a:solidFill>
              </a:defRPr>
            </a:pPr>
            <a:r>
              <a:rPr sz="975" b="1">
                <a:solidFill>
                  <a:srgbClr val="FF6324"/>
                </a:solidFill>
              </a:rPr>
              <a:t>18 / BATTLE PACKET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036AC-65B3-42D5-A37E-49E802D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클라이언트는 의도만 보내고, 결과 패킷은 상태 변화를 함께 전달합니다.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A0C6-4335-461F-BB60-3962C61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9465E"/>
                </a:solidFill>
              </a:defRPr>
            </a:pPr>
            <a:r>
              <a:rPr sz="1238" b="0">
                <a:solidFill>
                  <a:srgbClr val="29465E"/>
                </a:solidFill>
              </a:rPr>
              <a:t>입력–검증–결과의 책임을 분리해 PvP 양쪽이 같은 전투 상태를 보도록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1D629-2A0A-40A9-8BA0-A388CD27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985"/>
                </a:solidFill>
              </a:defRPr>
            </a:pPr>
            <a:r>
              <a:rPr sz="975" b="1">
                <a:solidFill>
                  <a:srgbClr val="6E7985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4315C-0A79-45CA-87F2-96047ABA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303DF-22B1-43F0-8BC4-AA991F1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E01E4-CE52-4876-AF2C-B0A56657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8219D-48F0-409A-AB42-BEA6C09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465E"/>
                </a:solidFill>
              </a:defRPr>
            </a:pPr>
            <a:r>
              <a:rPr sz="1050" b="1">
                <a:solidFill>
                  <a:srgbClr val="29465E"/>
                </a:solidFill>
              </a:rPr>
              <a:t>CLIENT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60490-110A-4754-8EB6-54149BE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C_BATTLE_MOVE</a:t>
            </a:r>
          </a:p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C_BATTLE_SKILL</a:t>
            </a:r>
          </a:p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C_BATTLE_END_TURN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35ADD-6621-41CB-ABD0-77D122E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대상 좌표 · 스킬 슬롯 · 턴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C7032-D6B5-4E4B-9479-433D71AD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480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E311D-E058-4FE8-A59F-7DF7253C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091A2D"/>
          </a:solidFill>
          <a:ln xmlns:a="http://schemas.openxmlformats.org/drawingml/2006/main" w="9525">
            <a:solidFill>
              <a:srgbClr val="091A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895DB-574E-4EEB-B8AB-44B4E81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24"/>
          </a:solidFill>
          <a:ln xmlns:a="http://schemas.openxmlformats.org/drawingml/2006/main" w="9525">
            <a:solidFill>
              <a:srgbClr val="FF63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9B666-EB38-4339-8FFE-6FCCBA7F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85DDF-2FF0-4DBA-BF26-B577E38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C2C7"/>
                </a:solidFill>
              </a:defRPr>
            </a:pPr>
            <a:r>
              <a:rPr sz="1050" b="1">
                <a:solidFill>
                  <a:srgbClr val="33C2C7"/>
                </a:solidFill>
              </a:rPr>
              <a:t>SERVER 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27CF8-9F8C-4667-8E22-68481C5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2F0E6"/>
                </a:solidFill>
              </a:defRPr>
            </a:pPr>
            <a:r>
              <a:rPr sz="1163" b="1">
                <a:solidFill>
                  <a:srgbClr val="F2F0E6"/>
                </a:solidFill>
              </a:rPr>
              <a:t>소유자 · 현재 턴 · AP</a:t>
            </a:r>
          </a:p>
          <a:p xmlns:a="http://schemas.openxmlformats.org/drawingml/2006/main">
            <a:pPr algn="ctr">
              <a:defRPr sz="1163" b="1">
                <a:solidFill>
                  <a:srgbClr val="F2F0E6"/>
                </a:solidFill>
              </a:defRPr>
            </a:pPr>
            <a:r>
              <a:rPr sz="1163" b="1">
                <a:solidFill>
                  <a:srgbClr val="F2F0E6"/>
                </a:solidFill>
              </a:rPr>
              <a:t>거리 · 대상 · 타일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2C98E-A5A8-4D67-8990-5C683C2A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FD1DA"/>
                </a:solidFill>
              </a:defRPr>
            </a:pPr>
            <a:r>
              <a:rPr sz="938" b="0">
                <a:solidFill>
                  <a:srgbClr val="BFD1DA"/>
                </a:solidFill>
              </a:rPr>
              <a:t>유효성 검증 후 전투 상태를 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DC4AE-951F-44F1-BFB3-A192EC7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480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24"/>
          </a:solidFill>
          <a:ln xmlns:a="http://schemas.openxmlformats.org/drawingml/2006/main" w="0">
            <a:solidFill>
              <a:srgbClr val="FF63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B428-0BE1-4FC0-8C68-283A11A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3143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05A4D-3B3B-4F34-B51E-3ACA946B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9525">
            <a:solidFill>
              <a:srgbClr val="E8EC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9F079-92BA-4E6D-BCB6-F752443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9465E"/>
                </a:solidFill>
              </a:defRPr>
            </a:pPr>
            <a:r>
              <a:rPr sz="863" b="1">
                <a:solidFill>
                  <a:srgbClr val="29465E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73274-C87A-4B11-B67B-3BD8D80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465E"/>
                </a:solidFill>
              </a:defRPr>
            </a:pPr>
            <a:r>
              <a:rPr sz="1050" b="1">
                <a:solidFill>
                  <a:srgbClr val="29465E"/>
                </a:solidFill>
              </a:rPr>
              <a:t>STATE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19E31-EDD6-4220-ABE4-96F5E5E6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S_BATTLE_MOVE</a:t>
            </a:r>
          </a:p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S_BATTLE_SKILL</a:t>
            </a:r>
          </a:p>
          <a:p xmlns:a="http://schemas.openxmlformats.org/drawingml/2006/main">
            <a:pPr algn="ctr">
              <a:defRPr sz="1163" b="1">
                <a:solidFill>
                  <a:srgbClr val="10243A"/>
                </a:solidFill>
              </a:defRPr>
            </a:pPr>
            <a:r>
              <a:rPr sz="1163" b="1">
                <a:solidFill>
                  <a:srgbClr val="10243A"/>
                </a:solidFill>
              </a:rPr>
              <a:t>S_BATTLE_END_TURN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89035-384B-4706-B825-AFE1EC93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5767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성공/사유 · Pawn/Tile Delta</a:t>
            </a:r>
          </a:p>
          <a:p xmlns:a="http://schemas.openxmlformats.org/drawingml/2006/main">
            <a:pPr algn="ctr">
              <a:defRPr sz="938" b="0">
                <a:solidFill>
                  <a:srgbClr val="6E7985"/>
                </a:solidFill>
              </a:defRPr>
            </a:pPr>
            <a:r>
              <a:rPr sz="938" b="0">
                <a:solidFill>
                  <a:srgbClr val="6E7985"/>
                </a:solidFill>
              </a:rPr>
              <a:t>Action Log · 다음 턴 · State 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5F118-495B-4A97-9BD0-7E59266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58400" cy="552450"/>
          </a:xfrm>
          <a:prstGeom xmlns:a="http://schemas.openxmlformats.org/drawingml/2006/main" prst="roundRect">
            <a:avLst>
              <a:gd name="adj" fmla="val 25862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9525">
            <a:solidFill>
              <a:srgbClr val="33C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23BC4-395C-43F3-91F7-748B625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963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3A"/>
                </a:solidFill>
              </a:defRPr>
            </a:pPr>
            <a:r>
              <a:rPr sz="1125" b="1">
                <a:solidFill>
                  <a:srgbClr val="10243A"/>
                </a:solidFill>
              </a:rPr>
              <a:t>입장 시에는 S_ENTER_BATTLE로 전체 스냅샷을 받고, 전투 중에는 결과 패킷의 변경분과 로그를 PvP 양측에 전파합니다.</a:t>
            </a:r>
          </a:p>
        </p:txBody>
      </p:sp>
    </p:spTree>
    <p:extLst>
      <p:ext uri="{BB962C8B-B14F-4D97-AF65-F5344CB8AC3E}">
        <p14:creationId xmlns:p14="http://schemas.microsoft.com/office/powerpoint/2010/main" val="11568788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Google Shape;478;p19">
            <a:extLst xmlns:a="http://schemas.openxmlformats.org/drawingml/2006/main">
              <a:ext uri="{FF2B5EF4-FFF2-40B4-BE49-F238E27FC236}">
                <a16:creationId xmlns:a16="http://schemas.microsoft.com/office/drawing/2014/main" id="{0750FE2E-E9B5-47C3-9043-BBF4F39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15 / VALIDATION &amp; NEXT</a:t>
            </a:r>
          </a:p>
        </p:txBody>
      </p:sp>
      <p:sp>
        <p:nvSpPr>
          <p:cNvPr id="479" name="Google Shape;479;p19">
            <a:extLst xmlns:a="http://schemas.openxmlformats.org/drawingml/2006/main">
              <a:ext uri="{FF2B5EF4-FFF2-40B4-BE49-F238E27FC236}">
                <a16:creationId xmlns:a16="http://schemas.microsoft.com/office/drawing/2014/main" id="{6CE93E39-507D-4136-AA29-FB08E8C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다음 수가 읽히는 전투는</a:t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측정 가능한 가설에서 완성됩니다.</a:t>
            </a:r>
          </a:p>
        </p:txBody>
      </p:sp>
      <p:sp>
        <p:nvSpPr>
          <p:cNvPr id="480" name="Google Shape;480;p19">
            <a:extLst xmlns:a="http://schemas.openxmlformats.org/drawingml/2006/main">
              <a:ext uri="{FF2B5EF4-FFF2-40B4-BE49-F238E27FC236}">
                <a16:creationId xmlns:a16="http://schemas.microsoft.com/office/drawing/2014/main" id="{A57F967E-8CC7-4B24-BD9D-24EFA59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1" name="Google Shape;481;p19">
            <a:extLst xmlns:a="http://schemas.openxmlformats.org/drawingml/2006/main">
              <a:ext uri="{FF2B5EF4-FFF2-40B4-BE49-F238E27FC236}">
                <a16:creationId xmlns:a16="http://schemas.microsoft.com/office/drawing/2014/main" id="{8091FE3B-A2F0-49F6-B104-EDA99512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탱커</a:t>
            </a:r>
          </a:p>
        </p:txBody>
      </p:sp>
      <p:sp>
        <p:nvSpPr>
          <p:cNvPr id="482" name="Google Shape;482;p19">
            <a:extLst xmlns:a="http://schemas.openxmlformats.org/drawingml/2006/main">
              <a:ext uri="{FF2B5EF4-FFF2-40B4-BE49-F238E27FC236}">
                <a16:creationId xmlns:a16="http://schemas.microsoft.com/office/drawing/2014/main" id="{573641AB-F8DA-4964-8EEC-2B570E3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보호 기여도 / 생존 턴</a:t>
            </a:r>
          </a:p>
        </p:txBody>
      </p:sp>
      <p:sp>
        <p:nvSpPr>
          <p:cNvPr id="483" name="Google Shape;483;p19">
            <a:extLst xmlns:a="http://schemas.openxmlformats.org/drawingml/2006/main">
              <a:ext uri="{FF2B5EF4-FFF2-40B4-BE49-F238E27FC236}">
                <a16:creationId xmlns:a16="http://schemas.microsoft.com/office/drawing/2014/main" id="{4D7A00D5-2DE5-4251-9579-1D75C477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4" name="Google Shape;484;p19">
            <a:extLst xmlns:a="http://schemas.openxmlformats.org/drawingml/2006/main">
              <a:ext uri="{FF2B5EF4-FFF2-40B4-BE49-F238E27FC236}">
                <a16:creationId xmlns:a16="http://schemas.microsoft.com/office/drawing/2014/main" id="{6C0E76E4-0C47-416F-92C0-DD881E3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ZOC</a:t>
            </a:r>
          </a:p>
        </p:txBody>
      </p:sp>
      <p:sp>
        <p:nvSpPr>
          <p:cNvPr id="485" name="Google Shape;485;p19">
            <a:extLst xmlns:a="http://schemas.openxmlformats.org/drawingml/2006/main">
              <a:ext uri="{FF2B5EF4-FFF2-40B4-BE49-F238E27FC236}">
                <a16:creationId xmlns:a16="http://schemas.microsoft.com/office/drawing/2014/main" id="{650E5340-4416-41C1-AA13-8883E99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차단한 경로와 이탈 선택</a:t>
            </a:r>
          </a:p>
        </p:txBody>
      </p:sp>
      <p:sp>
        <p:nvSpPr>
          <p:cNvPr id="486" name="Google Shape;486;p19">
            <a:extLst xmlns:a="http://schemas.openxmlformats.org/drawingml/2006/main">
              <a:ext uri="{FF2B5EF4-FFF2-40B4-BE49-F238E27FC236}">
                <a16:creationId xmlns:a16="http://schemas.microsoft.com/office/drawing/2014/main" id="{B4A73E03-EC13-4C7A-83D5-4FDB181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7" name="Google Shape;487;p19">
            <a:extLst xmlns:a="http://schemas.openxmlformats.org/drawingml/2006/main">
              <a:ext uri="{FF2B5EF4-FFF2-40B4-BE49-F238E27FC236}">
                <a16:creationId xmlns:a16="http://schemas.microsoft.com/office/drawing/2014/main" id="{68B9C42D-773F-4003-B414-BD1F4294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원거리</a:t>
            </a:r>
          </a:p>
        </p:txBody>
      </p:sp>
      <p:sp>
        <p:nvSpPr>
          <p:cNvPr id="488" name="Google Shape;488;p19">
            <a:extLst xmlns:a="http://schemas.openxmlformats.org/drawingml/2006/main">
              <a:ext uri="{FF2B5EF4-FFF2-40B4-BE49-F238E27FC236}">
                <a16:creationId xmlns:a16="http://schemas.microsoft.com/office/drawing/2014/main" id="{8215AF6A-9F98-40E4-85E2-2D7B9B12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안정 딜과 생존 턴</a:t>
            </a:r>
          </a:p>
        </p:txBody>
      </p:sp>
      <p:sp>
        <p:nvSpPr>
          <p:cNvPr id="489" name="Google Shape;489;p19">
            <a:extLst xmlns:a="http://schemas.openxmlformats.org/drawingml/2006/main">
              <a:ext uri="{FF2B5EF4-FFF2-40B4-BE49-F238E27FC236}">
                <a16:creationId xmlns:a16="http://schemas.microsoft.com/office/drawing/2014/main" id="{1550774D-3913-422E-9A58-1D84151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2266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49"/>
          </a:solidFill>
          <a:ln xmlns:a="http://schemas.openxmlformats.org/drawingml/2006/main" w="9525" cmpd="sng">
            <a:solidFill>
              <a:srgbClr val="28425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0" name="Google Shape;490;p19">
            <a:extLst xmlns:a="http://schemas.openxmlformats.org/drawingml/2006/main">
              <a:ext uri="{FF2B5EF4-FFF2-40B4-BE49-F238E27FC236}">
                <a16:creationId xmlns:a16="http://schemas.microsoft.com/office/drawing/2014/main" id="{EF0AACA5-B30D-4AB2-8A7C-CAAB334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6324"/>
                </a:solidFill>
                <a:latin typeface="Noto Sans KR"/>
                <a:ea typeface="Noto Sans KR"/>
                <a:cs typeface="Noto Sans KR"/>
              </a:rPr>
              <a:t>반응 공격</a:t>
            </a:r>
          </a:p>
        </p:txBody>
      </p:sp>
      <p:sp>
        <p:nvSpPr>
          <p:cNvPr id="491" name="Google Shape;491;p19">
            <a:extLst xmlns:a="http://schemas.openxmlformats.org/drawingml/2006/main">
              <a:ext uri="{FF2B5EF4-FFF2-40B4-BE49-F238E27FC236}">
                <a16:creationId xmlns:a16="http://schemas.microsoft.com/office/drawing/2014/main" id="{DFC2785C-8BA5-442F-9D49-7470F52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발생률과 체감 보상</a:t>
            </a:r>
          </a:p>
        </p:txBody>
      </p:sp>
      <p:sp>
        <p:nvSpPr>
          <p:cNvPr id="492" name="Google Shape;492;p19">
            <a:extLst xmlns:a="http://schemas.openxmlformats.org/drawingml/2006/main">
              <a:ext uri="{FF2B5EF4-FFF2-40B4-BE49-F238E27FC236}">
                <a16:creationId xmlns:a16="http://schemas.microsoft.com/office/drawing/2014/main" id="{7FBD1ECC-FD55-45F9-8A9F-6F18176A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33C2C7"/>
                </a:solidFill>
                <a:latin typeface="Noto Sans KR"/>
                <a:ea typeface="Noto Sans KR"/>
                <a:cs typeface="Noto Sans KR"/>
              </a:rPr>
              <a:t>NEXT</a:t>
            </a:r>
          </a:p>
        </p:txBody>
      </p:sp>
      <p:sp>
        <p:nvSpPr>
          <p:cNvPr id="493" name="Google Shape;493;p19">
            <a:extLst xmlns:a="http://schemas.openxmlformats.org/drawingml/2006/main">
              <a:ext uri="{FF2B5EF4-FFF2-40B4-BE49-F238E27FC236}">
                <a16:creationId xmlns:a16="http://schemas.microsoft.com/office/drawing/2014/main" id="{7D25BA20-206B-4673-AC3B-3540643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F2F0E6"/>
                </a:solidFill>
                <a:latin typeface="Noto Sans KR"/>
                <a:ea typeface="Noto Sans KR"/>
                <a:cs typeface="Noto Sans KR"/>
              </a:rPr>
              <a:t>Unity 미리보기와 서버 판정 연결 → 플레이테스트 → 역할 가치 지표로 가설 수정</a:t>
            </a:r>
          </a:p>
        </p:txBody>
      </p:sp>
      <p:sp>
        <p:nvSpPr>
          <p:cNvPr id="494" name="Google Shape;494;p19">
            <a:extLst xmlns:a="http://schemas.openxmlformats.org/drawingml/2006/main">
              <a:ext uri="{FF2B5EF4-FFF2-40B4-BE49-F238E27FC236}">
                <a16:creationId xmlns:a16="http://schemas.microsoft.com/office/drawing/2014/main" id="{928A274A-F305-46A9-B1DC-457030A9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PROJECT OCH  |  GAME SYSTEM DESIGNER</a:t>
            </a:r>
          </a:p>
        </p:txBody>
      </p:sp>
      <p:sp>
        <p:nvSpPr>
          <p:cNvPr id="495" name="Google Shape;495;p19">
            <a:extLst xmlns:a="http://schemas.openxmlformats.org/drawingml/2006/main">
              <a:ext uri="{FF2B5EF4-FFF2-40B4-BE49-F238E27FC236}">
                <a16:creationId xmlns:a16="http://schemas.microsoft.com/office/drawing/2014/main" id="{CB2FAB89-6111-4B50-A602-5DBC238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75" b="1">
                <a:solidFill>
                  <a:srgbClr val="9AAAB7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146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2026-07-30T17:01:13.6510000Z</dcterms:created>
  <dcterms:modified xsi:type="dcterms:W3CDTF">2026-07-30T17:01:13.6510000Z</dcterms:modified>
</coreProperties>
</file>